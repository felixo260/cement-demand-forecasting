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quickStyle3.xml" ContentType="application/vnd.openxmlformats-officedocument.drawingml.diagramStyle+xml"/>
  <Override PartName="/ppt/diagrams/drawing2.xml" ContentType="application/vnd.ms-office.drawingml.diagramDrawing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4.xml" ContentType="application/vnd.openxmlformats-officedocument.drawingml.diagramStyle+xml"/>
  <Override PartName="/ppt/diagrams/data2.xml" ContentType="application/vnd.openxmlformats-officedocument.drawingml.diagramData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3.xml" ContentType="application/vnd.ms-office.drawingml.diagramDrawing+xml"/>
  <Override PartName="/ppt/diagrams/colors2.xml" ContentType="application/vnd.openxmlformats-officedocument.drawingml.diagramColor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drawing4.xml" ContentType="application/vnd.ms-office.drawingml.diagramDrawing+xml"/>
  <Override PartName="/ppt/diagrams/colors3.xml" ContentType="application/vnd.openxmlformats-officedocument.drawingml.diagramColor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colors4.xml" ContentType="application/vnd.openxmlformats-officedocument.drawingml.diagramColor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media/image4.svg" ContentType="image/svg"/>
  <Override PartName="/ppt/media/OOXDiagramDataRels2_1.svg" ContentType="image/svg"/>
  <Override PartName="/ppt/media/OOXDiagramDataRels2_2.svg" ContentType="image/svg"/>
  <Override PartName="/ppt/media/OOXDiagramDataRels2_4.svg" ContentType="image/svg"/>
  <Override PartName="/ppt/media/OOXDiagramDrawingRels2_1.svg" ContentType="image/svg"/>
  <Override PartName="/ppt/media/OOXDiagramDataRels2_6.svg" ContentType="image/svg"/>
  <Override PartName="/ppt/media/OOXDiagramDataRels2_8.svg" ContentType="image/svg"/>
  <Override PartName="/ppt/media/OOXDiagramDrawingRels2_2.svg" ContentType="image/svg"/>
  <Override PartName="/ppt/media/OOXDiagramDrawingRels2_4.svg" ContentType="image/svg"/>
  <Override PartName="/ppt/media/OOXDiagramDrawingRels2_6.svg" ContentType="image/svg"/>
  <Override PartName="/ppt/media/OOXDiagramDrawingRels2_8.svg" ContentType="image/svg"/>
  <Override PartName="/ppt/media/image17.svg" ContentType="image/sv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diagrams/_rels/data2.xml.rels><?xml version="1.0" encoding="UTF-8"?>
<Relationships xmlns="http://schemas.openxmlformats.org/package/2006/relationships"><Relationship Id="rId1" Type="http://schemas.openxmlformats.org/officeDocument/2006/relationships/image" Target="../media/OOXDiagramDataRels2_0.png"/><Relationship Id="rId10" Type="http://schemas.openxmlformats.org/officeDocument/2006/relationships/image" Target="../media/OOXDiagramDataRels2_1.svg"/><Relationship Id="rId2" Type="http://schemas.openxmlformats.org/officeDocument/2006/relationships/image" Target="../media/OOXDiagramDataRels2_2.svg"/><Relationship Id="rId3" Type="http://schemas.openxmlformats.org/officeDocument/2006/relationships/image" Target="../media/OOXDiagramDataRels2_3.png"/><Relationship Id="rId4" Type="http://schemas.openxmlformats.org/officeDocument/2006/relationships/image" Target="../media/OOXDiagramDataRels2_4.svg"/><Relationship Id="rId5" Type="http://schemas.openxmlformats.org/officeDocument/2006/relationships/image" Target="../media/OOXDiagramDataRels2_5.png"/><Relationship Id="rId6" Type="http://schemas.openxmlformats.org/officeDocument/2006/relationships/image" Target="../media/OOXDiagramDataRels2_6.svg"/><Relationship Id="rId7" Type="http://schemas.openxmlformats.org/officeDocument/2006/relationships/image" Target="../media/OOXDiagramDataRels2_7.png"/><Relationship Id="rId8" Type="http://schemas.openxmlformats.org/officeDocument/2006/relationships/image" Target="../media/OOXDiagramDataRels2_8.svg"/><Relationship Id="rId9" Type="http://schemas.openxmlformats.org/officeDocument/2006/relationships/image" Target="../media/OOXDiagramDataRels2_9.png"/>
</Relationships>
</file>

<file path=ppt/diagrams/_rels/drawing2.xml.rels><?xml version="1.0" encoding="UTF-8"?>
<Relationships xmlns="http://schemas.openxmlformats.org/package/2006/relationships"><Relationship Id="rId1" Type="http://schemas.openxmlformats.org/officeDocument/2006/relationships/image" Target="../media/OOXDiagramDrawingRels2_0.png"/><Relationship Id="rId10" Type="http://schemas.openxmlformats.org/officeDocument/2006/relationships/image" Target="../media/OOXDiagramDrawingRels2_1.svg"/><Relationship Id="rId2" Type="http://schemas.openxmlformats.org/officeDocument/2006/relationships/image" Target="../media/OOXDiagramDrawingRels2_2.svg"/><Relationship Id="rId3" Type="http://schemas.openxmlformats.org/officeDocument/2006/relationships/image" Target="../media/OOXDiagramDrawingRels2_3.png"/><Relationship Id="rId4" Type="http://schemas.openxmlformats.org/officeDocument/2006/relationships/image" Target="../media/OOXDiagramDrawingRels2_4.svg"/><Relationship Id="rId5" Type="http://schemas.openxmlformats.org/officeDocument/2006/relationships/image" Target="../media/OOXDiagramDrawingRels2_5.png"/><Relationship Id="rId6" Type="http://schemas.openxmlformats.org/officeDocument/2006/relationships/image" Target="../media/OOXDiagramDrawingRels2_6.svg"/><Relationship Id="rId7" Type="http://schemas.openxmlformats.org/officeDocument/2006/relationships/image" Target="../media/OOXDiagramDrawingRels2_7.png"/><Relationship Id="rId8" Type="http://schemas.openxmlformats.org/officeDocument/2006/relationships/image" Target="../media/OOXDiagramDrawingRels2_8.svg"/><Relationship Id="rId9" Type="http://schemas.openxmlformats.org/officeDocument/2006/relationships/image" Target="../media/OOXDiagramDrawingRels2_9.png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4D7A84-7942-473F-AC25-8D76FC1BCA6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F28E7C4-0983-4AFF-88D1-883E7774F4BE}">
      <dgm:prSet/>
      <dgm:spPr/>
      <dgm:t>
        <a:bodyPr/>
        <a:lstStyle/>
        <a:p>
          <a:r>
            <a:rPr lang="en-US" b="0" i="0"/>
            <a:t>Develop a machine learning model to forecast cement demand across multiple construction sites.</a:t>
          </a:r>
          <a:endParaRPr lang="en-US"/>
        </a:p>
      </dgm:t>
    </dgm:pt>
    <dgm:pt modelId="{B772E5FB-86B2-4FBC-863D-A9B4CDA5CF7E}" type="parTrans" cxnId="{48B6D8F9-2D8B-4E92-B111-9FC3B5AA08FD}">
      <dgm:prSet/>
      <dgm:spPr/>
      <dgm:t>
        <a:bodyPr/>
        <a:lstStyle/>
        <a:p>
          <a:endParaRPr lang="en-US"/>
        </a:p>
      </dgm:t>
    </dgm:pt>
    <dgm:pt modelId="{B360F738-3576-4C5C-B6B0-A47D2DD84C74}" type="sibTrans" cxnId="{48B6D8F9-2D8B-4E92-B111-9FC3B5AA08FD}">
      <dgm:prSet/>
      <dgm:spPr/>
      <dgm:t>
        <a:bodyPr/>
        <a:lstStyle/>
        <a:p>
          <a:endParaRPr lang="en-US"/>
        </a:p>
      </dgm:t>
    </dgm:pt>
    <dgm:pt modelId="{CD283782-E789-4863-B179-341226382593}">
      <dgm:prSet/>
      <dgm:spPr/>
      <dgm:t>
        <a:bodyPr/>
        <a:lstStyle/>
        <a:p>
          <a:r>
            <a:rPr lang="en-US" b="0" i="0"/>
            <a:t>Analyze operational drivers influencing cement consumption.</a:t>
          </a:r>
          <a:endParaRPr lang="en-US"/>
        </a:p>
      </dgm:t>
    </dgm:pt>
    <dgm:pt modelId="{7EE90BAD-B017-40F5-8AF7-78D5C7E75429}" type="parTrans" cxnId="{195D9EB7-46CA-47CE-9C3E-21C9BE254B7F}">
      <dgm:prSet/>
      <dgm:spPr/>
      <dgm:t>
        <a:bodyPr/>
        <a:lstStyle/>
        <a:p>
          <a:endParaRPr lang="en-US"/>
        </a:p>
      </dgm:t>
    </dgm:pt>
    <dgm:pt modelId="{1624C6D6-C6E0-4777-BB1D-8D2069F5B0EF}" type="sibTrans" cxnId="{195D9EB7-46CA-47CE-9C3E-21C9BE254B7F}">
      <dgm:prSet/>
      <dgm:spPr/>
      <dgm:t>
        <a:bodyPr/>
        <a:lstStyle/>
        <a:p>
          <a:endParaRPr lang="en-US"/>
        </a:p>
      </dgm:t>
    </dgm:pt>
    <dgm:pt modelId="{D9B9FC81-8445-40B9-A94D-F404343E3879}">
      <dgm:prSet/>
      <dgm:spPr/>
      <dgm:t>
        <a:bodyPr/>
        <a:lstStyle/>
        <a:p>
          <a:r>
            <a:rPr lang="en-US" b="0" i="0"/>
            <a:t>Simulate inventory performance and identify potential inventory risk locations.</a:t>
          </a:r>
          <a:endParaRPr lang="en-US"/>
        </a:p>
      </dgm:t>
    </dgm:pt>
    <dgm:pt modelId="{CA80948D-4F7D-4824-9410-C991C0112BDE}" type="parTrans" cxnId="{119AD193-9BA4-444B-A795-CBA19DB25E66}">
      <dgm:prSet/>
      <dgm:spPr/>
      <dgm:t>
        <a:bodyPr/>
        <a:lstStyle/>
        <a:p>
          <a:endParaRPr lang="en-US"/>
        </a:p>
      </dgm:t>
    </dgm:pt>
    <dgm:pt modelId="{6D9FB80C-7C6E-44A6-9B8D-5D5BA6D8A996}" type="sibTrans" cxnId="{119AD193-9BA4-444B-A795-CBA19DB25E66}">
      <dgm:prSet/>
      <dgm:spPr/>
      <dgm:t>
        <a:bodyPr/>
        <a:lstStyle/>
        <a:p>
          <a:endParaRPr lang="en-US"/>
        </a:p>
      </dgm:t>
    </dgm:pt>
    <dgm:pt modelId="{C8EEAAE6-CBE8-471E-AF59-88BD533CC8AE}">
      <dgm:prSet/>
      <dgm:spPr/>
      <dgm:t>
        <a:bodyPr/>
        <a:lstStyle/>
        <a:p>
          <a:r>
            <a:rPr lang="en-US" b="0" i="0"/>
            <a:t>Support data-driven planning and decision-making for operations teams.</a:t>
          </a:r>
          <a:endParaRPr lang="en-US"/>
        </a:p>
      </dgm:t>
    </dgm:pt>
    <dgm:pt modelId="{4263790A-5779-4167-8DFC-4FD3B5479B18}" type="parTrans" cxnId="{5548A63C-DA6C-4350-9AA9-792B015ADBFD}">
      <dgm:prSet/>
      <dgm:spPr/>
      <dgm:t>
        <a:bodyPr/>
        <a:lstStyle/>
        <a:p>
          <a:endParaRPr lang="en-US"/>
        </a:p>
      </dgm:t>
    </dgm:pt>
    <dgm:pt modelId="{FC69D74C-C8B2-4080-9A12-6B3C0562DD61}" type="sibTrans" cxnId="{5548A63C-DA6C-4350-9AA9-792B015ADBFD}">
      <dgm:prSet/>
      <dgm:spPr/>
      <dgm:t>
        <a:bodyPr/>
        <a:lstStyle/>
        <a:p>
          <a:endParaRPr lang="en-US"/>
        </a:p>
      </dgm:t>
    </dgm:pt>
    <dgm:pt modelId="{2DE14D0D-F0A5-4F2A-9F53-ACE3C589DCEC}" type="pres">
      <dgm:prSet presAssocID="{CA4D7A84-7942-473F-AC25-8D76FC1BCA68}" presName="Name0" presStyleCnt="0">
        <dgm:presLayoutVars>
          <dgm:dir/>
          <dgm:resizeHandles val="exact"/>
        </dgm:presLayoutVars>
      </dgm:prSet>
      <dgm:spPr/>
    </dgm:pt>
    <dgm:pt modelId="{28C8F41D-0E7F-47B2-8C1E-7575AAA720CC}" type="pres">
      <dgm:prSet presAssocID="{FF28E7C4-0983-4AFF-88D1-883E7774F4BE}" presName="node" presStyleLbl="node1" presStyleIdx="0" presStyleCnt="4">
        <dgm:presLayoutVars>
          <dgm:bulletEnabled val="1"/>
        </dgm:presLayoutVars>
      </dgm:prSet>
      <dgm:spPr/>
    </dgm:pt>
    <dgm:pt modelId="{C1B0CF93-A0E2-41E9-9DE7-B487B85750DA}" type="pres">
      <dgm:prSet presAssocID="{B360F738-3576-4C5C-B6B0-A47D2DD84C74}" presName="sibTrans" presStyleLbl="sibTrans1D1" presStyleIdx="0" presStyleCnt="3"/>
      <dgm:spPr/>
    </dgm:pt>
    <dgm:pt modelId="{F57268D2-3690-497A-AE98-FEABF2C2B413}" type="pres">
      <dgm:prSet presAssocID="{B360F738-3576-4C5C-B6B0-A47D2DD84C74}" presName="connectorText" presStyleLbl="sibTrans1D1" presStyleIdx="0" presStyleCnt="3"/>
      <dgm:spPr/>
    </dgm:pt>
    <dgm:pt modelId="{2EE790CC-EC36-4DA4-9A1B-3C61B86999B6}" type="pres">
      <dgm:prSet presAssocID="{CD283782-E789-4863-B179-341226382593}" presName="node" presStyleLbl="node1" presStyleIdx="1" presStyleCnt="4">
        <dgm:presLayoutVars>
          <dgm:bulletEnabled val="1"/>
        </dgm:presLayoutVars>
      </dgm:prSet>
      <dgm:spPr/>
    </dgm:pt>
    <dgm:pt modelId="{9EAD1906-A136-4892-BDB2-D30A3E934438}" type="pres">
      <dgm:prSet presAssocID="{1624C6D6-C6E0-4777-BB1D-8D2069F5B0EF}" presName="sibTrans" presStyleLbl="sibTrans1D1" presStyleIdx="1" presStyleCnt="3"/>
      <dgm:spPr/>
    </dgm:pt>
    <dgm:pt modelId="{0D5713C6-4461-4083-9FAC-BC8B8D1250FD}" type="pres">
      <dgm:prSet presAssocID="{1624C6D6-C6E0-4777-BB1D-8D2069F5B0EF}" presName="connectorText" presStyleLbl="sibTrans1D1" presStyleIdx="1" presStyleCnt="3"/>
      <dgm:spPr/>
    </dgm:pt>
    <dgm:pt modelId="{9202BF6E-3C2B-4359-AFFB-F4B21F326F0D}" type="pres">
      <dgm:prSet presAssocID="{D9B9FC81-8445-40B9-A94D-F404343E3879}" presName="node" presStyleLbl="node1" presStyleIdx="2" presStyleCnt="4">
        <dgm:presLayoutVars>
          <dgm:bulletEnabled val="1"/>
        </dgm:presLayoutVars>
      </dgm:prSet>
      <dgm:spPr/>
    </dgm:pt>
    <dgm:pt modelId="{4D4D3084-8F55-4264-AD5B-96B1A298B308}" type="pres">
      <dgm:prSet presAssocID="{6D9FB80C-7C6E-44A6-9B8D-5D5BA6D8A996}" presName="sibTrans" presStyleLbl="sibTrans1D1" presStyleIdx="2" presStyleCnt="3"/>
      <dgm:spPr/>
    </dgm:pt>
    <dgm:pt modelId="{C9009F54-A50C-461A-BB7A-B79122E89F69}" type="pres">
      <dgm:prSet presAssocID="{6D9FB80C-7C6E-44A6-9B8D-5D5BA6D8A996}" presName="connectorText" presStyleLbl="sibTrans1D1" presStyleIdx="2" presStyleCnt="3"/>
      <dgm:spPr/>
    </dgm:pt>
    <dgm:pt modelId="{352833A0-53A9-458A-9943-DBAB5E03EDD9}" type="pres">
      <dgm:prSet presAssocID="{C8EEAAE6-CBE8-471E-AF59-88BD533CC8AE}" presName="node" presStyleLbl="node1" presStyleIdx="3" presStyleCnt="4">
        <dgm:presLayoutVars>
          <dgm:bulletEnabled val="1"/>
        </dgm:presLayoutVars>
      </dgm:prSet>
      <dgm:spPr/>
    </dgm:pt>
  </dgm:ptLst>
  <dgm:cxnLst>
    <dgm:cxn modelId="{B2BE2C05-AD6C-49D1-83EE-DEBE9F345FF4}" type="presOf" srcId="{D9B9FC81-8445-40B9-A94D-F404343E3879}" destId="{9202BF6E-3C2B-4359-AFFB-F4B21F326F0D}" srcOrd="0" destOrd="0" presId="urn:microsoft.com/office/officeart/2016/7/layout/RepeatingBendingProcessNew"/>
    <dgm:cxn modelId="{8B3D240F-ED91-45BA-9820-B75B7359E9AC}" type="presOf" srcId="{CA4D7A84-7942-473F-AC25-8D76FC1BCA68}" destId="{2DE14D0D-F0A5-4F2A-9F53-ACE3C589DCEC}" srcOrd="0" destOrd="0" presId="urn:microsoft.com/office/officeart/2016/7/layout/RepeatingBendingProcessNew"/>
    <dgm:cxn modelId="{9A4C2C1E-052C-4477-B17A-CDBE33BE1524}" type="presOf" srcId="{CD283782-E789-4863-B179-341226382593}" destId="{2EE790CC-EC36-4DA4-9A1B-3C61B86999B6}" srcOrd="0" destOrd="0" presId="urn:microsoft.com/office/officeart/2016/7/layout/RepeatingBendingProcessNew"/>
    <dgm:cxn modelId="{5548A63C-DA6C-4350-9AA9-792B015ADBFD}" srcId="{CA4D7A84-7942-473F-AC25-8D76FC1BCA68}" destId="{C8EEAAE6-CBE8-471E-AF59-88BD533CC8AE}" srcOrd="3" destOrd="0" parTransId="{4263790A-5779-4167-8DFC-4FD3B5479B18}" sibTransId="{FC69D74C-C8B2-4080-9A12-6B3C0562DD61}"/>
    <dgm:cxn modelId="{1D745A41-EFDD-4835-8918-6C60B50152CA}" type="presOf" srcId="{FF28E7C4-0983-4AFF-88D1-883E7774F4BE}" destId="{28C8F41D-0E7F-47B2-8C1E-7575AAA720CC}" srcOrd="0" destOrd="0" presId="urn:microsoft.com/office/officeart/2016/7/layout/RepeatingBendingProcessNew"/>
    <dgm:cxn modelId="{37CF7346-1FC2-4D0C-8A77-D602CB818F61}" type="presOf" srcId="{6D9FB80C-7C6E-44A6-9B8D-5D5BA6D8A996}" destId="{C9009F54-A50C-461A-BB7A-B79122E89F69}" srcOrd="1" destOrd="0" presId="urn:microsoft.com/office/officeart/2016/7/layout/RepeatingBendingProcessNew"/>
    <dgm:cxn modelId="{EC051853-0AE7-4FB5-8A92-C719CC73B20D}" type="presOf" srcId="{1624C6D6-C6E0-4777-BB1D-8D2069F5B0EF}" destId="{0D5713C6-4461-4083-9FAC-BC8B8D1250FD}" srcOrd="1" destOrd="0" presId="urn:microsoft.com/office/officeart/2016/7/layout/RepeatingBendingProcessNew"/>
    <dgm:cxn modelId="{119AD193-9BA4-444B-A795-CBA19DB25E66}" srcId="{CA4D7A84-7942-473F-AC25-8D76FC1BCA68}" destId="{D9B9FC81-8445-40B9-A94D-F404343E3879}" srcOrd="2" destOrd="0" parTransId="{CA80948D-4F7D-4824-9410-C991C0112BDE}" sibTransId="{6D9FB80C-7C6E-44A6-9B8D-5D5BA6D8A996}"/>
    <dgm:cxn modelId="{195D9EB7-46CA-47CE-9C3E-21C9BE254B7F}" srcId="{CA4D7A84-7942-473F-AC25-8D76FC1BCA68}" destId="{CD283782-E789-4863-B179-341226382593}" srcOrd="1" destOrd="0" parTransId="{7EE90BAD-B017-40F5-8AF7-78D5C7E75429}" sibTransId="{1624C6D6-C6E0-4777-BB1D-8D2069F5B0EF}"/>
    <dgm:cxn modelId="{0237FAC9-AC26-4F45-8D4B-CAF43BC74724}" type="presOf" srcId="{B360F738-3576-4C5C-B6B0-A47D2DD84C74}" destId="{F57268D2-3690-497A-AE98-FEABF2C2B413}" srcOrd="1" destOrd="0" presId="urn:microsoft.com/office/officeart/2016/7/layout/RepeatingBendingProcessNew"/>
    <dgm:cxn modelId="{511499D4-E351-4C83-85ED-959B6A288D1A}" type="presOf" srcId="{1624C6D6-C6E0-4777-BB1D-8D2069F5B0EF}" destId="{9EAD1906-A136-4892-BDB2-D30A3E934438}" srcOrd="0" destOrd="0" presId="urn:microsoft.com/office/officeart/2016/7/layout/RepeatingBendingProcessNew"/>
    <dgm:cxn modelId="{3F5ADCE4-DF9A-435C-A297-72B5CB3B13B0}" type="presOf" srcId="{C8EEAAE6-CBE8-471E-AF59-88BD533CC8AE}" destId="{352833A0-53A9-458A-9943-DBAB5E03EDD9}" srcOrd="0" destOrd="0" presId="urn:microsoft.com/office/officeart/2016/7/layout/RepeatingBendingProcessNew"/>
    <dgm:cxn modelId="{D34CB2EC-DC5C-44A6-B40D-64308B0476F2}" type="presOf" srcId="{B360F738-3576-4C5C-B6B0-A47D2DD84C74}" destId="{C1B0CF93-A0E2-41E9-9DE7-B487B85750DA}" srcOrd="0" destOrd="0" presId="urn:microsoft.com/office/officeart/2016/7/layout/RepeatingBendingProcessNew"/>
    <dgm:cxn modelId="{0C485FEE-9F0A-4BFC-9E1B-E133A4E89069}" type="presOf" srcId="{6D9FB80C-7C6E-44A6-9B8D-5D5BA6D8A996}" destId="{4D4D3084-8F55-4264-AD5B-96B1A298B308}" srcOrd="0" destOrd="0" presId="urn:microsoft.com/office/officeart/2016/7/layout/RepeatingBendingProcessNew"/>
    <dgm:cxn modelId="{48B6D8F9-2D8B-4E92-B111-9FC3B5AA08FD}" srcId="{CA4D7A84-7942-473F-AC25-8D76FC1BCA68}" destId="{FF28E7C4-0983-4AFF-88D1-883E7774F4BE}" srcOrd="0" destOrd="0" parTransId="{B772E5FB-86B2-4FBC-863D-A9B4CDA5CF7E}" sibTransId="{B360F738-3576-4C5C-B6B0-A47D2DD84C74}"/>
    <dgm:cxn modelId="{97FD1E2A-541C-43CA-80B7-258774BDBCA9}" type="presParOf" srcId="{2DE14D0D-F0A5-4F2A-9F53-ACE3C589DCEC}" destId="{28C8F41D-0E7F-47B2-8C1E-7575AAA720CC}" srcOrd="0" destOrd="0" presId="urn:microsoft.com/office/officeart/2016/7/layout/RepeatingBendingProcessNew"/>
    <dgm:cxn modelId="{F3E11890-D5FA-46B8-BBA8-91512038D02F}" type="presParOf" srcId="{2DE14D0D-F0A5-4F2A-9F53-ACE3C589DCEC}" destId="{C1B0CF93-A0E2-41E9-9DE7-B487B85750DA}" srcOrd="1" destOrd="0" presId="urn:microsoft.com/office/officeart/2016/7/layout/RepeatingBendingProcessNew"/>
    <dgm:cxn modelId="{22EE4AA6-CBA8-47BF-A34F-E92CC47D7797}" type="presParOf" srcId="{C1B0CF93-A0E2-41E9-9DE7-B487B85750DA}" destId="{F57268D2-3690-497A-AE98-FEABF2C2B413}" srcOrd="0" destOrd="0" presId="urn:microsoft.com/office/officeart/2016/7/layout/RepeatingBendingProcessNew"/>
    <dgm:cxn modelId="{07F991C7-21B4-40E6-8249-87777E88D5E3}" type="presParOf" srcId="{2DE14D0D-F0A5-4F2A-9F53-ACE3C589DCEC}" destId="{2EE790CC-EC36-4DA4-9A1B-3C61B86999B6}" srcOrd="2" destOrd="0" presId="urn:microsoft.com/office/officeart/2016/7/layout/RepeatingBendingProcessNew"/>
    <dgm:cxn modelId="{5647E2A5-A5F3-4209-AE36-621F7005A787}" type="presParOf" srcId="{2DE14D0D-F0A5-4F2A-9F53-ACE3C589DCEC}" destId="{9EAD1906-A136-4892-BDB2-D30A3E934438}" srcOrd="3" destOrd="0" presId="urn:microsoft.com/office/officeart/2016/7/layout/RepeatingBendingProcessNew"/>
    <dgm:cxn modelId="{DCEFD800-1648-4A8A-88D6-15F7A4076139}" type="presParOf" srcId="{9EAD1906-A136-4892-BDB2-D30A3E934438}" destId="{0D5713C6-4461-4083-9FAC-BC8B8D1250FD}" srcOrd="0" destOrd="0" presId="urn:microsoft.com/office/officeart/2016/7/layout/RepeatingBendingProcessNew"/>
    <dgm:cxn modelId="{F4A548D2-CF85-4382-9953-173405E42EBE}" type="presParOf" srcId="{2DE14D0D-F0A5-4F2A-9F53-ACE3C589DCEC}" destId="{9202BF6E-3C2B-4359-AFFB-F4B21F326F0D}" srcOrd="4" destOrd="0" presId="urn:microsoft.com/office/officeart/2016/7/layout/RepeatingBendingProcessNew"/>
    <dgm:cxn modelId="{6F5D1FFB-C735-4D0C-8CED-11CC338F4CCD}" type="presParOf" srcId="{2DE14D0D-F0A5-4F2A-9F53-ACE3C589DCEC}" destId="{4D4D3084-8F55-4264-AD5B-96B1A298B308}" srcOrd="5" destOrd="0" presId="urn:microsoft.com/office/officeart/2016/7/layout/RepeatingBendingProcessNew"/>
    <dgm:cxn modelId="{94BEB241-665F-4129-9858-2C64D2E265B0}" type="presParOf" srcId="{4D4D3084-8F55-4264-AD5B-96B1A298B308}" destId="{C9009F54-A50C-461A-BB7A-B79122E89F69}" srcOrd="0" destOrd="0" presId="urn:microsoft.com/office/officeart/2016/7/layout/RepeatingBendingProcessNew"/>
    <dgm:cxn modelId="{41AE8035-D9EE-4D6B-B40E-0F8D143689AA}" type="presParOf" srcId="{2DE14D0D-F0A5-4F2A-9F53-ACE3C589DCEC}" destId="{352833A0-53A9-458A-9943-DBAB5E03EDD9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687A9B-4853-4138-9ADF-D8E52835BA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B7955C-13DD-4D49-A6E9-0E37D6E659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Collected and prepared operational, weather, and inventory datasets.</a:t>
          </a:r>
          <a:endParaRPr lang="en-US"/>
        </a:p>
      </dgm:t>
    </dgm:pt>
    <dgm:pt modelId="{14EA9180-08CF-42BC-BA51-CA7E96D0EEEF}" type="parTrans" cxnId="{67C7EFA7-503C-4251-8E82-3912CD9A0CEC}">
      <dgm:prSet/>
      <dgm:spPr/>
      <dgm:t>
        <a:bodyPr/>
        <a:lstStyle/>
        <a:p>
          <a:endParaRPr lang="en-US"/>
        </a:p>
      </dgm:t>
    </dgm:pt>
    <dgm:pt modelId="{247D96F2-D281-45DE-A338-59013BED9C20}" type="sibTrans" cxnId="{67C7EFA7-503C-4251-8E82-3912CD9A0CEC}">
      <dgm:prSet/>
      <dgm:spPr/>
      <dgm:t>
        <a:bodyPr/>
        <a:lstStyle/>
        <a:p>
          <a:endParaRPr lang="en-US"/>
        </a:p>
      </dgm:t>
    </dgm:pt>
    <dgm:pt modelId="{DFA567E2-DDE8-49C4-B005-F761758AFA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Performed exploratory data analysis and feature engineering.</a:t>
          </a:r>
          <a:endParaRPr lang="en-US"/>
        </a:p>
      </dgm:t>
    </dgm:pt>
    <dgm:pt modelId="{E37AFDE8-1050-4473-BFC5-7B7400E602E2}" type="parTrans" cxnId="{BFB77399-D1A5-4A1A-8AA2-6C7C7562C8D1}">
      <dgm:prSet/>
      <dgm:spPr/>
      <dgm:t>
        <a:bodyPr/>
        <a:lstStyle/>
        <a:p>
          <a:endParaRPr lang="en-US"/>
        </a:p>
      </dgm:t>
    </dgm:pt>
    <dgm:pt modelId="{50B6D3A7-505F-4227-AD91-8CC944421A7C}" type="sibTrans" cxnId="{BFB77399-D1A5-4A1A-8AA2-6C7C7562C8D1}">
      <dgm:prSet/>
      <dgm:spPr/>
      <dgm:t>
        <a:bodyPr/>
        <a:lstStyle/>
        <a:p>
          <a:endParaRPr lang="en-US"/>
        </a:p>
      </dgm:t>
    </dgm:pt>
    <dgm:pt modelId="{C90F51C5-2A62-4DFF-B57D-C91FD87555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Built and evaluated forecasting models including Random Forest and SARIMAX.</a:t>
          </a:r>
          <a:endParaRPr lang="en-US"/>
        </a:p>
      </dgm:t>
    </dgm:pt>
    <dgm:pt modelId="{FBCA9D18-8BF5-4A28-969F-BFA53C68B0AC}" type="parTrans" cxnId="{42958FC0-15C0-4575-985B-40167C0B5CB3}">
      <dgm:prSet/>
      <dgm:spPr/>
      <dgm:t>
        <a:bodyPr/>
        <a:lstStyle/>
        <a:p>
          <a:endParaRPr lang="en-US"/>
        </a:p>
      </dgm:t>
    </dgm:pt>
    <dgm:pt modelId="{797C8E9F-E9B6-4157-A2E3-F92F11767C52}" type="sibTrans" cxnId="{42958FC0-15C0-4575-985B-40167C0B5CB3}">
      <dgm:prSet/>
      <dgm:spPr/>
      <dgm:t>
        <a:bodyPr/>
        <a:lstStyle/>
        <a:p>
          <a:endParaRPr lang="en-US"/>
        </a:p>
      </dgm:t>
    </dgm:pt>
    <dgm:pt modelId="{C950BE2E-2D94-4786-B6D8-3B88DAB4BD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Selected Random Forest based on superior RMSE, MAE, and R² performance.</a:t>
          </a:r>
          <a:endParaRPr lang="en-US"/>
        </a:p>
      </dgm:t>
    </dgm:pt>
    <dgm:pt modelId="{6B5182B5-0222-4519-9188-E9B88DEB71FA}" type="parTrans" cxnId="{43593B8C-3819-4B30-9326-75D5BC14AB71}">
      <dgm:prSet/>
      <dgm:spPr/>
      <dgm:t>
        <a:bodyPr/>
        <a:lstStyle/>
        <a:p>
          <a:endParaRPr lang="en-US"/>
        </a:p>
      </dgm:t>
    </dgm:pt>
    <dgm:pt modelId="{3766B4E4-A9BC-4789-BC4A-3898CB41E06E}" type="sibTrans" cxnId="{43593B8C-3819-4B30-9326-75D5BC14AB71}">
      <dgm:prSet/>
      <dgm:spPr/>
      <dgm:t>
        <a:bodyPr/>
        <a:lstStyle/>
        <a:p>
          <a:endParaRPr lang="en-US"/>
        </a:p>
      </dgm:t>
    </dgm:pt>
    <dgm:pt modelId="{BECF3A56-94AC-41C3-B0E4-1845BA73C6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Generated site-level inventory simulations and dashboard visualizations.</a:t>
          </a:r>
          <a:endParaRPr lang="en-US"/>
        </a:p>
      </dgm:t>
    </dgm:pt>
    <dgm:pt modelId="{88F6E603-571B-4F0A-80A6-B5005255DC94}" type="parTrans" cxnId="{840F856A-8BF6-400D-AAAA-CD5EDFAF4522}">
      <dgm:prSet/>
      <dgm:spPr/>
      <dgm:t>
        <a:bodyPr/>
        <a:lstStyle/>
        <a:p>
          <a:endParaRPr lang="en-US"/>
        </a:p>
      </dgm:t>
    </dgm:pt>
    <dgm:pt modelId="{D817B218-071E-45C1-97F0-9A60B0801572}" type="sibTrans" cxnId="{840F856A-8BF6-400D-AAAA-CD5EDFAF4522}">
      <dgm:prSet/>
      <dgm:spPr/>
      <dgm:t>
        <a:bodyPr/>
        <a:lstStyle/>
        <a:p>
          <a:endParaRPr lang="en-US"/>
        </a:p>
      </dgm:t>
    </dgm:pt>
    <dgm:pt modelId="{1D8E63CD-6F20-4859-B47C-39AEBD4E844B}" type="pres">
      <dgm:prSet presAssocID="{A0687A9B-4853-4138-9ADF-D8E52835BAA9}" presName="root" presStyleCnt="0">
        <dgm:presLayoutVars>
          <dgm:dir/>
          <dgm:resizeHandles val="exact"/>
        </dgm:presLayoutVars>
      </dgm:prSet>
      <dgm:spPr/>
    </dgm:pt>
    <dgm:pt modelId="{59F04AD0-20FF-401F-AB5E-1C29A5E4F8F4}" type="pres">
      <dgm:prSet presAssocID="{48B7955C-13DD-4D49-A6E9-0E37D6E6596C}" presName="compNode" presStyleCnt="0"/>
      <dgm:spPr/>
    </dgm:pt>
    <dgm:pt modelId="{4764D3A6-FE65-4617-B2C8-DD594DF749C7}" type="pres">
      <dgm:prSet presAssocID="{48B7955C-13DD-4D49-A6E9-0E37D6E6596C}" presName="bgRect" presStyleLbl="bgShp" presStyleIdx="0" presStyleCnt="5"/>
      <dgm:spPr/>
    </dgm:pt>
    <dgm:pt modelId="{7F971DEC-184D-420F-9C52-B9F365125C30}" type="pres">
      <dgm:prSet presAssocID="{48B7955C-13DD-4D49-A6E9-0E37D6E6596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165DF04-54AB-4A9D-A5FB-5F86A51574AA}" type="pres">
      <dgm:prSet presAssocID="{48B7955C-13DD-4D49-A6E9-0E37D6E6596C}" presName="spaceRect" presStyleCnt="0"/>
      <dgm:spPr/>
    </dgm:pt>
    <dgm:pt modelId="{730F0541-E674-451C-A9C5-5F96B0614DAC}" type="pres">
      <dgm:prSet presAssocID="{48B7955C-13DD-4D49-A6E9-0E37D6E6596C}" presName="parTx" presStyleLbl="revTx" presStyleIdx="0" presStyleCnt="5">
        <dgm:presLayoutVars>
          <dgm:chMax val="0"/>
          <dgm:chPref val="0"/>
        </dgm:presLayoutVars>
      </dgm:prSet>
      <dgm:spPr/>
    </dgm:pt>
    <dgm:pt modelId="{FA6C8513-2561-4ABF-B213-9EDC458775EC}" type="pres">
      <dgm:prSet presAssocID="{247D96F2-D281-45DE-A338-59013BED9C20}" presName="sibTrans" presStyleCnt="0"/>
      <dgm:spPr/>
    </dgm:pt>
    <dgm:pt modelId="{E401AD6F-C55F-4DED-A1E7-9F936032C625}" type="pres">
      <dgm:prSet presAssocID="{DFA567E2-DDE8-49C4-B005-F761758AFA49}" presName="compNode" presStyleCnt="0"/>
      <dgm:spPr/>
    </dgm:pt>
    <dgm:pt modelId="{44E8309B-BA5E-4CFD-9BB6-37825FE8422B}" type="pres">
      <dgm:prSet presAssocID="{DFA567E2-DDE8-49C4-B005-F761758AFA49}" presName="bgRect" presStyleLbl="bgShp" presStyleIdx="1" presStyleCnt="5"/>
      <dgm:spPr/>
    </dgm:pt>
    <dgm:pt modelId="{1B029958-341C-4EC5-8C2D-672F0EA3854A}" type="pres">
      <dgm:prSet presAssocID="{DFA567E2-DDE8-49C4-B005-F761758AFA4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63BE241-E84E-4C70-B90C-5AB43C9D4DA4}" type="pres">
      <dgm:prSet presAssocID="{DFA567E2-DDE8-49C4-B005-F761758AFA49}" presName="spaceRect" presStyleCnt="0"/>
      <dgm:spPr/>
    </dgm:pt>
    <dgm:pt modelId="{1969475E-C166-46C9-AA08-4AC37D5EAAB0}" type="pres">
      <dgm:prSet presAssocID="{DFA567E2-DDE8-49C4-B005-F761758AFA49}" presName="parTx" presStyleLbl="revTx" presStyleIdx="1" presStyleCnt="5">
        <dgm:presLayoutVars>
          <dgm:chMax val="0"/>
          <dgm:chPref val="0"/>
        </dgm:presLayoutVars>
      </dgm:prSet>
      <dgm:spPr/>
    </dgm:pt>
    <dgm:pt modelId="{300421A8-CF3A-460E-B32F-45B097386453}" type="pres">
      <dgm:prSet presAssocID="{50B6D3A7-505F-4227-AD91-8CC944421A7C}" presName="sibTrans" presStyleCnt="0"/>
      <dgm:spPr/>
    </dgm:pt>
    <dgm:pt modelId="{F6124D2C-7FF2-48C3-AA64-B46F40CDF80E}" type="pres">
      <dgm:prSet presAssocID="{C90F51C5-2A62-4DFF-B57D-C91FD875552A}" presName="compNode" presStyleCnt="0"/>
      <dgm:spPr/>
    </dgm:pt>
    <dgm:pt modelId="{90AA20DE-67FB-4D43-B27D-7FBD1232FE14}" type="pres">
      <dgm:prSet presAssocID="{C90F51C5-2A62-4DFF-B57D-C91FD875552A}" presName="bgRect" presStyleLbl="bgShp" presStyleIdx="2" presStyleCnt="5"/>
      <dgm:spPr/>
    </dgm:pt>
    <dgm:pt modelId="{65448292-3B93-4E13-90D7-FD46091718BE}" type="pres">
      <dgm:prSet presAssocID="{C90F51C5-2A62-4DFF-B57D-C91FD875552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E1CB4D17-573E-453D-9059-1C589474ECC8}" type="pres">
      <dgm:prSet presAssocID="{C90F51C5-2A62-4DFF-B57D-C91FD875552A}" presName="spaceRect" presStyleCnt="0"/>
      <dgm:spPr/>
    </dgm:pt>
    <dgm:pt modelId="{0C0F663F-BB8B-42D4-B9A8-88BDB7B4FB03}" type="pres">
      <dgm:prSet presAssocID="{C90F51C5-2A62-4DFF-B57D-C91FD875552A}" presName="parTx" presStyleLbl="revTx" presStyleIdx="2" presStyleCnt="5">
        <dgm:presLayoutVars>
          <dgm:chMax val="0"/>
          <dgm:chPref val="0"/>
        </dgm:presLayoutVars>
      </dgm:prSet>
      <dgm:spPr/>
    </dgm:pt>
    <dgm:pt modelId="{D8F152F7-B1C6-4975-B79A-3D0CF3E4A9DC}" type="pres">
      <dgm:prSet presAssocID="{797C8E9F-E9B6-4157-A2E3-F92F11767C52}" presName="sibTrans" presStyleCnt="0"/>
      <dgm:spPr/>
    </dgm:pt>
    <dgm:pt modelId="{8F87C562-2830-4816-AC60-212F97B9DBA4}" type="pres">
      <dgm:prSet presAssocID="{C950BE2E-2D94-4786-B6D8-3B88DAB4BD86}" presName="compNode" presStyleCnt="0"/>
      <dgm:spPr/>
    </dgm:pt>
    <dgm:pt modelId="{4031CF9E-F6C5-415C-8D5A-8902D0B72F60}" type="pres">
      <dgm:prSet presAssocID="{C950BE2E-2D94-4786-B6D8-3B88DAB4BD86}" presName="bgRect" presStyleLbl="bgShp" presStyleIdx="3" presStyleCnt="5"/>
      <dgm:spPr/>
    </dgm:pt>
    <dgm:pt modelId="{6A0AF5D3-7DF1-412B-9EFB-A289511F36CE}" type="pres">
      <dgm:prSet presAssocID="{C950BE2E-2D94-4786-B6D8-3B88DAB4BD8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E550880-CF0A-484A-93EB-708A669F34D1}" type="pres">
      <dgm:prSet presAssocID="{C950BE2E-2D94-4786-B6D8-3B88DAB4BD86}" presName="spaceRect" presStyleCnt="0"/>
      <dgm:spPr/>
    </dgm:pt>
    <dgm:pt modelId="{D83B55B7-43D8-4225-A626-73D83B7BA618}" type="pres">
      <dgm:prSet presAssocID="{C950BE2E-2D94-4786-B6D8-3B88DAB4BD86}" presName="parTx" presStyleLbl="revTx" presStyleIdx="3" presStyleCnt="5">
        <dgm:presLayoutVars>
          <dgm:chMax val="0"/>
          <dgm:chPref val="0"/>
        </dgm:presLayoutVars>
      </dgm:prSet>
      <dgm:spPr/>
    </dgm:pt>
    <dgm:pt modelId="{B47ED708-6613-4BD6-B8D5-730A4EC15C97}" type="pres">
      <dgm:prSet presAssocID="{3766B4E4-A9BC-4789-BC4A-3898CB41E06E}" presName="sibTrans" presStyleCnt="0"/>
      <dgm:spPr/>
    </dgm:pt>
    <dgm:pt modelId="{867C494C-AD6B-418F-8251-9647B60CCAF5}" type="pres">
      <dgm:prSet presAssocID="{BECF3A56-94AC-41C3-B0E4-1845BA73C69D}" presName="compNode" presStyleCnt="0"/>
      <dgm:spPr/>
    </dgm:pt>
    <dgm:pt modelId="{AD06F3BC-A916-41D4-98E9-8F0EBD34BFCE}" type="pres">
      <dgm:prSet presAssocID="{BECF3A56-94AC-41C3-B0E4-1845BA73C69D}" presName="bgRect" presStyleLbl="bgShp" presStyleIdx="4" presStyleCnt="5"/>
      <dgm:spPr/>
    </dgm:pt>
    <dgm:pt modelId="{BB211CF7-C286-414D-9F3D-FBCF55348639}" type="pres">
      <dgm:prSet presAssocID="{BECF3A56-94AC-41C3-B0E4-1845BA73C69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E132570-2963-45C9-8EC6-4854076A1DC2}" type="pres">
      <dgm:prSet presAssocID="{BECF3A56-94AC-41C3-B0E4-1845BA73C69D}" presName="spaceRect" presStyleCnt="0"/>
      <dgm:spPr/>
    </dgm:pt>
    <dgm:pt modelId="{41E2440B-DCB0-460F-B030-5EE6DEA26725}" type="pres">
      <dgm:prSet presAssocID="{BECF3A56-94AC-41C3-B0E4-1845BA73C69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57F650E-680D-4ACC-A578-ED011C3E060F}" type="presOf" srcId="{C950BE2E-2D94-4786-B6D8-3B88DAB4BD86}" destId="{D83B55B7-43D8-4225-A626-73D83B7BA618}" srcOrd="0" destOrd="0" presId="urn:microsoft.com/office/officeart/2018/2/layout/IconVerticalSolidList"/>
    <dgm:cxn modelId="{85C86E1B-CFD7-4749-B365-4493CD87B6CB}" type="presOf" srcId="{A0687A9B-4853-4138-9ADF-D8E52835BAA9}" destId="{1D8E63CD-6F20-4859-B47C-39AEBD4E844B}" srcOrd="0" destOrd="0" presId="urn:microsoft.com/office/officeart/2018/2/layout/IconVerticalSolidList"/>
    <dgm:cxn modelId="{29AE5E20-6679-4756-89BD-B92964ED2162}" type="presOf" srcId="{BECF3A56-94AC-41C3-B0E4-1845BA73C69D}" destId="{41E2440B-DCB0-460F-B030-5EE6DEA26725}" srcOrd="0" destOrd="0" presId="urn:microsoft.com/office/officeart/2018/2/layout/IconVerticalSolidList"/>
    <dgm:cxn modelId="{0978C149-3F69-46E1-9B6E-7C286FD6ECF2}" type="presOf" srcId="{DFA567E2-DDE8-49C4-B005-F761758AFA49}" destId="{1969475E-C166-46C9-AA08-4AC37D5EAAB0}" srcOrd="0" destOrd="0" presId="urn:microsoft.com/office/officeart/2018/2/layout/IconVerticalSolidList"/>
    <dgm:cxn modelId="{840F856A-8BF6-400D-AAAA-CD5EDFAF4522}" srcId="{A0687A9B-4853-4138-9ADF-D8E52835BAA9}" destId="{BECF3A56-94AC-41C3-B0E4-1845BA73C69D}" srcOrd="4" destOrd="0" parTransId="{88F6E603-571B-4F0A-80A6-B5005255DC94}" sibTransId="{D817B218-071E-45C1-97F0-9A60B0801572}"/>
    <dgm:cxn modelId="{43593B8C-3819-4B30-9326-75D5BC14AB71}" srcId="{A0687A9B-4853-4138-9ADF-D8E52835BAA9}" destId="{C950BE2E-2D94-4786-B6D8-3B88DAB4BD86}" srcOrd="3" destOrd="0" parTransId="{6B5182B5-0222-4519-9188-E9B88DEB71FA}" sibTransId="{3766B4E4-A9BC-4789-BC4A-3898CB41E06E}"/>
    <dgm:cxn modelId="{BFB77399-D1A5-4A1A-8AA2-6C7C7562C8D1}" srcId="{A0687A9B-4853-4138-9ADF-D8E52835BAA9}" destId="{DFA567E2-DDE8-49C4-B005-F761758AFA49}" srcOrd="1" destOrd="0" parTransId="{E37AFDE8-1050-4473-BFC5-7B7400E602E2}" sibTransId="{50B6D3A7-505F-4227-AD91-8CC944421A7C}"/>
    <dgm:cxn modelId="{67C7EFA7-503C-4251-8E82-3912CD9A0CEC}" srcId="{A0687A9B-4853-4138-9ADF-D8E52835BAA9}" destId="{48B7955C-13DD-4D49-A6E9-0E37D6E6596C}" srcOrd="0" destOrd="0" parTransId="{14EA9180-08CF-42BC-BA51-CA7E96D0EEEF}" sibTransId="{247D96F2-D281-45DE-A338-59013BED9C20}"/>
    <dgm:cxn modelId="{42958FC0-15C0-4575-985B-40167C0B5CB3}" srcId="{A0687A9B-4853-4138-9ADF-D8E52835BAA9}" destId="{C90F51C5-2A62-4DFF-B57D-C91FD875552A}" srcOrd="2" destOrd="0" parTransId="{FBCA9D18-8BF5-4A28-969F-BFA53C68B0AC}" sibTransId="{797C8E9F-E9B6-4157-A2E3-F92F11767C52}"/>
    <dgm:cxn modelId="{D22A01D0-3D4B-45B6-B4D4-0562401D6C52}" type="presOf" srcId="{C90F51C5-2A62-4DFF-B57D-C91FD875552A}" destId="{0C0F663F-BB8B-42D4-B9A8-88BDB7B4FB03}" srcOrd="0" destOrd="0" presId="urn:microsoft.com/office/officeart/2018/2/layout/IconVerticalSolidList"/>
    <dgm:cxn modelId="{63D828DE-E5B3-4542-84EC-C876F07B678C}" type="presOf" srcId="{48B7955C-13DD-4D49-A6E9-0E37D6E6596C}" destId="{730F0541-E674-451C-A9C5-5F96B0614DAC}" srcOrd="0" destOrd="0" presId="urn:microsoft.com/office/officeart/2018/2/layout/IconVerticalSolidList"/>
    <dgm:cxn modelId="{98E4D241-938F-46EE-A3E5-C6BE2081DE1B}" type="presParOf" srcId="{1D8E63CD-6F20-4859-B47C-39AEBD4E844B}" destId="{59F04AD0-20FF-401F-AB5E-1C29A5E4F8F4}" srcOrd="0" destOrd="0" presId="urn:microsoft.com/office/officeart/2018/2/layout/IconVerticalSolidList"/>
    <dgm:cxn modelId="{C206E5DF-025C-4860-AD4B-906E00ACEAB9}" type="presParOf" srcId="{59F04AD0-20FF-401F-AB5E-1C29A5E4F8F4}" destId="{4764D3A6-FE65-4617-B2C8-DD594DF749C7}" srcOrd="0" destOrd="0" presId="urn:microsoft.com/office/officeart/2018/2/layout/IconVerticalSolidList"/>
    <dgm:cxn modelId="{77718032-21C0-4C43-9A91-F8EA39F8AB3D}" type="presParOf" srcId="{59F04AD0-20FF-401F-AB5E-1C29A5E4F8F4}" destId="{7F971DEC-184D-420F-9C52-B9F365125C30}" srcOrd="1" destOrd="0" presId="urn:microsoft.com/office/officeart/2018/2/layout/IconVerticalSolidList"/>
    <dgm:cxn modelId="{4B141BDD-D17C-450F-8D1A-9F27A98FE318}" type="presParOf" srcId="{59F04AD0-20FF-401F-AB5E-1C29A5E4F8F4}" destId="{4165DF04-54AB-4A9D-A5FB-5F86A51574AA}" srcOrd="2" destOrd="0" presId="urn:microsoft.com/office/officeart/2018/2/layout/IconVerticalSolidList"/>
    <dgm:cxn modelId="{A0B92CCF-F503-4A5E-8323-C0FBD1C8A5CE}" type="presParOf" srcId="{59F04AD0-20FF-401F-AB5E-1C29A5E4F8F4}" destId="{730F0541-E674-451C-A9C5-5F96B0614DAC}" srcOrd="3" destOrd="0" presId="urn:microsoft.com/office/officeart/2018/2/layout/IconVerticalSolidList"/>
    <dgm:cxn modelId="{54C4B8B6-BAA5-4F11-B0AD-1A179CE2C62E}" type="presParOf" srcId="{1D8E63CD-6F20-4859-B47C-39AEBD4E844B}" destId="{FA6C8513-2561-4ABF-B213-9EDC458775EC}" srcOrd="1" destOrd="0" presId="urn:microsoft.com/office/officeart/2018/2/layout/IconVerticalSolidList"/>
    <dgm:cxn modelId="{13A7F3EA-7544-40A2-87E5-E9D58A20A617}" type="presParOf" srcId="{1D8E63CD-6F20-4859-B47C-39AEBD4E844B}" destId="{E401AD6F-C55F-4DED-A1E7-9F936032C625}" srcOrd="2" destOrd="0" presId="urn:microsoft.com/office/officeart/2018/2/layout/IconVerticalSolidList"/>
    <dgm:cxn modelId="{E480F04F-E090-4072-91AE-336F1A4EDEBC}" type="presParOf" srcId="{E401AD6F-C55F-4DED-A1E7-9F936032C625}" destId="{44E8309B-BA5E-4CFD-9BB6-37825FE8422B}" srcOrd="0" destOrd="0" presId="urn:microsoft.com/office/officeart/2018/2/layout/IconVerticalSolidList"/>
    <dgm:cxn modelId="{B55DDA42-1D52-4CED-8538-698E6EC2BB6F}" type="presParOf" srcId="{E401AD6F-C55F-4DED-A1E7-9F936032C625}" destId="{1B029958-341C-4EC5-8C2D-672F0EA3854A}" srcOrd="1" destOrd="0" presId="urn:microsoft.com/office/officeart/2018/2/layout/IconVerticalSolidList"/>
    <dgm:cxn modelId="{0B956B35-3E79-46EA-9BBF-E4E040F5A604}" type="presParOf" srcId="{E401AD6F-C55F-4DED-A1E7-9F936032C625}" destId="{D63BE241-E84E-4C70-B90C-5AB43C9D4DA4}" srcOrd="2" destOrd="0" presId="urn:microsoft.com/office/officeart/2018/2/layout/IconVerticalSolidList"/>
    <dgm:cxn modelId="{54D5F93B-49E2-4ADD-9C25-2A844DC7F9C3}" type="presParOf" srcId="{E401AD6F-C55F-4DED-A1E7-9F936032C625}" destId="{1969475E-C166-46C9-AA08-4AC37D5EAAB0}" srcOrd="3" destOrd="0" presId="urn:microsoft.com/office/officeart/2018/2/layout/IconVerticalSolidList"/>
    <dgm:cxn modelId="{3EAF4BC5-1F6B-49E2-AE2F-29FBA8BD8312}" type="presParOf" srcId="{1D8E63CD-6F20-4859-B47C-39AEBD4E844B}" destId="{300421A8-CF3A-460E-B32F-45B097386453}" srcOrd="3" destOrd="0" presId="urn:microsoft.com/office/officeart/2018/2/layout/IconVerticalSolidList"/>
    <dgm:cxn modelId="{A418AEDC-D22B-4095-BA47-7A0226E8CB9C}" type="presParOf" srcId="{1D8E63CD-6F20-4859-B47C-39AEBD4E844B}" destId="{F6124D2C-7FF2-48C3-AA64-B46F40CDF80E}" srcOrd="4" destOrd="0" presId="urn:microsoft.com/office/officeart/2018/2/layout/IconVerticalSolidList"/>
    <dgm:cxn modelId="{6D9C8211-5B60-4F31-BD8B-67BBB6418E05}" type="presParOf" srcId="{F6124D2C-7FF2-48C3-AA64-B46F40CDF80E}" destId="{90AA20DE-67FB-4D43-B27D-7FBD1232FE14}" srcOrd="0" destOrd="0" presId="urn:microsoft.com/office/officeart/2018/2/layout/IconVerticalSolidList"/>
    <dgm:cxn modelId="{0FF70A8F-9714-415A-BBBD-D3AE7E93104E}" type="presParOf" srcId="{F6124D2C-7FF2-48C3-AA64-B46F40CDF80E}" destId="{65448292-3B93-4E13-90D7-FD46091718BE}" srcOrd="1" destOrd="0" presId="urn:microsoft.com/office/officeart/2018/2/layout/IconVerticalSolidList"/>
    <dgm:cxn modelId="{D9AB68EA-631E-4173-9E78-EF0BF02A845F}" type="presParOf" srcId="{F6124D2C-7FF2-48C3-AA64-B46F40CDF80E}" destId="{E1CB4D17-573E-453D-9059-1C589474ECC8}" srcOrd="2" destOrd="0" presId="urn:microsoft.com/office/officeart/2018/2/layout/IconVerticalSolidList"/>
    <dgm:cxn modelId="{911763BF-B4A8-4061-8BDE-B23CBD733B31}" type="presParOf" srcId="{F6124D2C-7FF2-48C3-AA64-B46F40CDF80E}" destId="{0C0F663F-BB8B-42D4-B9A8-88BDB7B4FB03}" srcOrd="3" destOrd="0" presId="urn:microsoft.com/office/officeart/2018/2/layout/IconVerticalSolidList"/>
    <dgm:cxn modelId="{C8984F87-7A98-49F3-9EF5-E255F2D5C07B}" type="presParOf" srcId="{1D8E63CD-6F20-4859-B47C-39AEBD4E844B}" destId="{D8F152F7-B1C6-4975-B79A-3D0CF3E4A9DC}" srcOrd="5" destOrd="0" presId="urn:microsoft.com/office/officeart/2018/2/layout/IconVerticalSolidList"/>
    <dgm:cxn modelId="{2F6C52F7-0917-4E6F-9A56-50477CE257AB}" type="presParOf" srcId="{1D8E63CD-6F20-4859-B47C-39AEBD4E844B}" destId="{8F87C562-2830-4816-AC60-212F97B9DBA4}" srcOrd="6" destOrd="0" presId="urn:microsoft.com/office/officeart/2018/2/layout/IconVerticalSolidList"/>
    <dgm:cxn modelId="{1F114066-A1AE-4A44-81C7-516C8908D727}" type="presParOf" srcId="{8F87C562-2830-4816-AC60-212F97B9DBA4}" destId="{4031CF9E-F6C5-415C-8D5A-8902D0B72F60}" srcOrd="0" destOrd="0" presId="urn:microsoft.com/office/officeart/2018/2/layout/IconVerticalSolidList"/>
    <dgm:cxn modelId="{2E68D5D0-C506-4694-9594-901E307F229B}" type="presParOf" srcId="{8F87C562-2830-4816-AC60-212F97B9DBA4}" destId="{6A0AF5D3-7DF1-412B-9EFB-A289511F36CE}" srcOrd="1" destOrd="0" presId="urn:microsoft.com/office/officeart/2018/2/layout/IconVerticalSolidList"/>
    <dgm:cxn modelId="{D1EBF831-D584-49C1-B0B3-12CEFDB3752C}" type="presParOf" srcId="{8F87C562-2830-4816-AC60-212F97B9DBA4}" destId="{4E550880-CF0A-484A-93EB-708A669F34D1}" srcOrd="2" destOrd="0" presId="urn:microsoft.com/office/officeart/2018/2/layout/IconVerticalSolidList"/>
    <dgm:cxn modelId="{98733A5E-F45D-4664-8EC8-E0D17EFD0064}" type="presParOf" srcId="{8F87C562-2830-4816-AC60-212F97B9DBA4}" destId="{D83B55B7-43D8-4225-A626-73D83B7BA618}" srcOrd="3" destOrd="0" presId="urn:microsoft.com/office/officeart/2018/2/layout/IconVerticalSolidList"/>
    <dgm:cxn modelId="{8EFE73E8-72BE-48BF-9495-7FCA48E92C9B}" type="presParOf" srcId="{1D8E63CD-6F20-4859-B47C-39AEBD4E844B}" destId="{B47ED708-6613-4BD6-B8D5-730A4EC15C97}" srcOrd="7" destOrd="0" presId="urn:microsoft.com/office/officeart/2018/2/layout/IconVerticalSolidList"/>
    <dgm:cxn modelId="{45A62BCC-F2B0-41E2-BDF9-594E2FB63D76}" type="presParOf" srcId="{1D8E63CD-6F20-4859-B47C-39AEBD4E844B}" destId="{867C494C-AD6B-418F-8251-9647B60CCAF5}" srcOrd="8" destOrd="0" presId="urn:microsoft.com/office/officeart/2018/2/layout/IconVerticalSolidList"/>
    <dgm:cxn modelId="{6A38B057-DA8A-4B65-A8E6-82CEA050F0C4}" type="presParOf" srcId="{867C494C-AD6B-418F-8251-9647B60CCAF5}" destId="{AD06F3BC-A916-41D4-98E9-8F0EBD34BFCE}" srcOrd="0" destOrd="0" presId="urn:microsoft.com/office/officeart/2018/2/layout/IconVerticalSolidList"/>
    <dgm:cxn modelId="{51421059-5205-4517-9D0C-B3F2380AF946}" type="presParOf" srcId="{867C494C-AD6B-418F-8251-9647B60CCAF5}" destId="{BB211CF7-C286-414D-9F3D-FBCF55348639}" srcOrd="1" destOrd="0" presId="urn:microsoft.com/office/officeart/2018/2/layout/IconVerticalSolidList"/>
    <dgm:cxn modelId="{EBF83AF7-3728-4373-895C-B9A106E0D4D5}" type="presParOf" srcId="{867C494C-AD6B-418F-8251-9647B60CCAF5}" destId="{9E132570-2963-45C9-8EC6-4854076A1DC2}" srcOrd="2" destOrd="0" presId="urn:microsoft.com/office/officeart/2018/2/layout/IconVerticalSolidList"/>
    <dgm:cxn modelId="{EFCCD29F-7AC5-4FA8-990B-E59682703678}" type="presParOf" srcId="{867C494C-AD6B-418F-8251-9647B60CCAF5}" destId="{41E2440B-DCB0-460F-B030-5EE6DEA267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870654-4EFA-4234-815A-28D3970C3C42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C50E95A-A38B-4B65-A81B-8223B7CBCC52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 b="0" i="0" dirty="0"/>
            <a:t>Random Forest achieved the best  forecasting performance among the evaluated models.</a:t>
          </a:r>
          <a:endParaRPr lang="en-US" dirty="0"/>
        </a:p>
      </dgm:t>
    </dgm:pt>
    <dgm:pt modelId="{B3DCC0BE-F184-4C0C-9114-E85402F015F3}" type="parTrans" cxnId="{A6FAE8D8-A7D2-4060-860B-B90B94A56C8F}">
      <dgm:prSet/>
      <dgm:spPr/>
      <dgm:t>
        <a:bodyPr/>
        <a:lstStyle/>
        <a:p>
          <a:pPr algn="ctr"/>
          <a:endParaRPr lang="en-US"/>
        </a:p>
      </dgm:t>
    </dgm:pt>
    <dgm:pt modelId="{C0317F19-EF32-477A-B443-6C399D62E679}" type="sibTrans" cxnId="{A6FAE8D8-A7D2-4060-860B-B90B94A56C8F}">
      <dgm:prSet/>
      <dgm:spPr/>
      <dgm:t>
        <a:bodyPr/>
        <a:lstStyle/>
        <a:p>
          <a:pPr algn="ctr"/>
          <a:endParaRPr lang="en-US"/>
        </a:p>
      </dgm:t>
    </dgm:pt>
    <dgm:pt modelId="{468C4E05-031E-430A-8A52-F01C32FB5378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 b="0" i="0" dirty="0"/>
            <a:t>RMSE: 0.71(Very low Prediction error)</a:t>
          </a:r>
          <a:endParaRPr lang="en-US" dirty="0"/>
        </a:p>
      </dgm:t>
    </dgm:pt>
    <dgm:pt modelId="{BB773E0E-2C83-46AA-8332-F5D3F7991C9D}" type="parTrans" cxnId="{B3648510-89D6-4CEF-8552-9717276DD950}">
      <dgm:prSet/>
      <dgm:spPr/>
      <dgm:t>
        <a:bodyPr/>
        <a:lstStyle/>
        <a:p>
          <a:pPr algn="ctr"/>
          <a:endParaRPr lang="en-US"/>
        </a:p>
      </dgm:t>
    </dgm:pt>
    <dgm:pt modelId="{009D5D13-A51B-4943-8812-5631031D6511}" type="sibTrans" cxnId="{B3648510-89D6-4CEF-8552-9717276DD950}">
      <dgm:prSet/>
      <dgm:spPr/>
      <dgm:t>
        <a:bodyPr/>
        <a:lstStyle/>
        <a:p>
          <a:pPr algn="ctr"/>
          <a:endParaRPr lang="en-US"/>
        </a:p>
      </dgm:t>
    </dgm:pt>
    <dgm:pt modelId="{481BF2EB-7BA9-436B-B6E3-D9E822658738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 b="0" i="0" dirty="0"/>
            <a:t>MAE: 0.16 (Minimal Difference between Actual &amp; Predicted Demand)</a:t>
          </a:r>
          <a:endParaRPr lang="en-US" dirty="0"/>
        </a:p>
      </dgm:t>
    </dgm:pt>
    <dgm:pt modelId="{3F5DF6A9-CCE1-4A72-B241-E87B1250438C}" type="parTrans" cxnId="{4D02AA3F-B90C-4040-AAEA-74CF5FB0DA03}">
      <dgm:prSet/>
      <dgm:spPr/>
      <dgm:t>
        <a:bodyPr/>
        <a:lstStyle/>
        <a:p>
          <a:pPr algn="ctr"/>
          <a:endParaRPr lang="en-US"/>
        </a:p>
      </dgm:t>
    </dgm:pt>
    <dgm:pt modelId="{0687FDD6-2C56-4250-BF2C-1BE4487FE2D5}" type="sibTrans" cxnId="{4D02AA3F-B90C-4040-AAEA-74CF5FB0DA03}">
      <dgm:prSet/>
      <dgm:spPr/>
      <dgm:t>
        <a:bodyPr/>
        <a:lstStyle/>
        <a:p>
          <a:pPr algn="ctr"/>
          <a:endParaRPr lang="en-US"/>
        </a:p>
      </dgm:t>
    </dgm:pt>
    <dgm:pt modelId="{BAFC49E8-49DD-438A-8992-FD6C15AC47A5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 b="0" i="0" dirty="0"/>
            <a:t>R² Score: 0.998 (Model Accuracy is approximately 99.8%)</a:t>
          </a:r>
          <a:endParaRPr lang="en-US" dirty="0"/>
        </a:p>
      </dgm:t>
    </dgm:pt>
    <dgm:pt modelId="{2A3145C4-7982-4F79-BF27-6EBF6DB009E7}" type="parTrans" cxnId="{26198C80-5F2F-47AC-8609-A52B4859579A}">
      <dgm:prSet/>
      <dgm:spPr/>
      <dgm:t>
        <a:bodyPr/>
        <a:lstStyle/>
        <a:p>
          <a:pPr algn="ctr"/>
          <a:endParaRPr lang="en-US"/>
        </a:p>
      </dgm:t>
    </dgm:pt>
    <dgm:pt modelId="{F622BEF9-5F24-4517-8A29-A840304E6292}" type="sibTrans" cxnId="{26198C80-5F2F-47AC-8609-A52B4859579A}">
      <dgm:prSet/>
      <dgm:spPr/>
      <dgm:t>
        <a:bodyPr/>
        <a:lstStyle/>
        <a:p>
          <a:pPr algn="ctr"/>
          <a:endParaRPr lang="en-US"/>
        </a:p>
      </dgm:t>
    </dgm:pt>
    <dgm:pt modelId="{328DABCE-9EB8-43C3-BFEC-C9E6C0117282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 b="0" i="0" dirty="0"/>
            <a:t>The model successfully captured operational demand fluctuations across observations.</a:t>
          </a:r>
          <a:endParaRPr lang="en-US" dirty="0"/>
        </a:p>
      </dgm:t>
    </dgm:pt>
    <dgm:pt modelId="{83E745B8-7650-4AFE-8F6A-4C260168BC0A}" type="parTrans" cxnId="{CFC52654-4425-40CF-8897-9B747F8001A4}">
      <dgm:prSet/>
      <dgm:spPr/>
      <dgm:t>
        <a:bodyPr/>
        <a:lstStyle/>
        <a:p>
          <a:pPr algn="ctr"/>
          <a:endParaRPr lang="en-US"/>
        </a:p>
      </dgm:t>
    </dgm:pt>
    <dgm:pt modelId="{79A9BB59-032E-43F4-A4CB-9D3A08D4C7E0}" type="sibTrans" cxnId="{CFC52654-4425-40CF-8897-9B747F8001A4}">
      <dgm:prSet/>
      <dgm:spPr/>
      <dgm:t>
        <a:bodyPr/>
        <a:lstStyle/>
        <a:p>
          <a:pPr algn="ctr"/>
          <a:endParaRPr lang="en-US"/>
        </a:p>
      </dgm:t>
    </dgm:pt>
    <dgm:pt modelId="{D48B1118-539B-4841-B13D-9B0887AC0CA6}" type="pres">
      <dgm:prSet presAssocID="{2D870654-4EFA-4234-815A-28D3970C3C42}" presName="Name0" presStyleCnt="0">
        <dgm:presLayoutVars>
          <dgm:dir/>
          <dgm:animLvl val="lvl"/>
          <dgm:resizeHandles val="exact"/>
        </dgm:presLayoutVars>
      </dgm:prSet>
      <dgm:spPr/>
    </dgm:pt>
    <dgm:pt modelId="{8564D840-F2F4-4ECA-B4C5-23B614019949}" type="pres">
      <dgm:prSet presAssocID="{328DABCE-9EB8-43C3-BFEC-C9E6C0117282}" presName="boxAndChildren" presStyleCnt="0"/>
      <dgm:spPr/>
    </dgm:pt>
    <dgm:pt modelId="{309E1F3A-8EDF-4A2E-ACBB-46B531A20BC5}" type="pres">
      <dgm:prSet presAssocID="{328DABCE-9EB8-43C3-BFEC-C9E6C0117282}" presName="parentTextBox" presStyleLbl="node1" presStyleIdx="0" presStyleCnt="5"/>
      <dgm:spPr/>
    </dgm:pt>
    <dgm:pt modelId="{DBB86C02-2F72-4DE8-9A4D-BA0E5ACE4EF2}" type="pres">
      <dgm:prSet presAssocID="{F622BEF9-5F24-4517-8A29-A840304E6292}" presName="sp" presStyleCnt="0"/>
      <dgm:spPr/>
    </dgm:pt>
    <dgm:pt modelId="{1A06FFC4-C1BA-4CB7-8BD7-C08F9AE83735}" type="pres">
      <dgm:prSet presAssocID="{BAFC49E8-49DD-438A-8992-FD6C15AC47A5}" presName="arrowAndChildren" presStyleCnt="0"/>
      <dgm:spPr/>
    </dgm:pt>
    <dgm:pt modelId="{4343041E-8BC1-4DF9-BAC4-318198EF23C4}" type="pres">
      <dgm:prSet presAssocID="{BAFC49E8-49DD-438A-8992-FD6C15AC47A5}" presName="parentTextArrow" presStyleLbl="node1" presStyleIdx="1" presStyleCnt="5"/>
      <dgm:spPr/>
    </dgm:pt>
    <dgm:pt modelId="{397E6306-09AB-4B71-B6DE-A90DC0AFC971}" type="pres">
      <dgm:prSet presAssocID="{0687FDD6-2C56-4250-BF2C-1BE4487FE2D5}" presName="sp" presStyleCnt="0"/>
      <dgm:spPr/>
    </dgm:pt>
    <dgm:pt modelId="{14AD5623-4D0A-4C92-8064-D44C566E7E58}" type="pres">
      <dgm:prSet presAssocID="{481BF2EB-7BA9-436B-B6E3-D9E822658738}" presName="arrowAndChildren" presStyleCnt="0"/>
      <dgm:spPr/>
    </dgm:pt>
    <dgm:pt modelId="{3DD917F9-72B3-40A3-A091-273C5CC74D46}" type="pres">
      <dgm:prSet presAssocID="{481BF2EB-7BA9-436B-B6E3-D9E822658738}" presName="parentTextArrow" presStyleLbl="node1" presStyleIdx="2" presStyleCnt="5"/>
      <dgm:spPr/>
    </dgm:pt>
    <dgm:pt modelId="{47DC6F0F-4F1C-45D3-9ED4-F59C7D4E49D3}" type="pres">
      <dgm:prSet presAssocID="{009D5D13-A51B-4943-8812-5631031D6511}" presName="sp" presStyleCnt="0"/>
      <dgm:spPr/>
    </dgm:pt>
    <dgm:pt modelId="{AE73753A-456F-419E-8B56-B330153CD917}" type="pres">
      <dgm:prSet presAssocID="{468C4E05-031E-430A-8A52-F01C32FB5378}" presName="arrowAndChildren" presStyleCnt="0"/>
      <dgm:spPr/>
    </dgm:pt>
    <dgm:pt modelId="{1D469B25-D925-47B2-BF68-4FA280A0FF9C}" type="pres">
      <dgm:prSet presAssocID="{468C4E05-031E-430A-8A52-F01C32FB5378}" presName="parentTextArrow" presStyleLbl="node1" presStyleIdx="3" presStyleCnt="5"/>
      <dgm:spPr/>
    </dgm:pt>
    <dgm:pt modelId="{D2D28969-3371-46FC-AFE7-C8BDE8E6C259}" type="pres">
      <dgm:prSet presAssocID="{C0317F19-EF32-477A-B443-6C399D62E679}" presName="sp" presStyleCnt="0"/>
      <dgm:spPr/>
    </dgm:pt>
    <dgm:pt modelId="{1343A47C-43A1-4C88-8C3F-E0DF7FEE6DA5}" type="pres">
      <dgm:prSet presAssocID="{DC50E95A-A38B-4B65-A81B-8223B7CBCC52}" presName="arrowAndChildren" presStyleCnt="0"/>
      <dgm:spPr/>
    </dgm:pt>
    <dgm:pt modelId="{5A2E8DE7-D667-4030-B205-0A523E892867}" type="pres">
      <dgm:prSet presAssocID="{DC50E95A-A38B-4B65-A81B-8223B7CBCC52}" presName="parentTextArrow" presStyleLbl="node1" presStyleIdx="4" presStyleCnt="5"/>
      <dgm:spPr/>
    </dgm:pt>
  </dgm:ptLst>
  <dgm:cxnLst>
    <dgm:cxn modelId="{B3648510-89D6-4CEF-8552-9717276DD950}" srcId="{2D870654-4EFA-4234-815A-28D3970C3C42}" destId="{468C4E05-031E-430A-8A52-F01C32FB5378}" srcOrd="1" destOrd="0" parTransId="{BB773E0E-2C83-46AA-8332-F5D3F7991C9D}" sibTransId="{009D5D13-A51B-4943-8812-5631031D6511}"/>
    <dgm:cxn modelId="{2E52923B-4034-4D77-BA13-3EB126637D1C}" type="presOf" srcId="{328DABCE-9EB8-43C3-BFEC-C9E6C0117282}" destId="{309E1F3A-8EDF-4A2E-ACBB-46B531A20BC5}" srcOrd="0" destOrd="0" presId="urn:microsoft.com/office/officeart/2005/8/layout/process4"/>
    <dgm:cxn modelId="{A1646F3E-8770-4068-AB92-BAF661421515}" type="presOf" srcId="{481BF2EB-7BA9-436B-B6E3-D9E822658738}" destId="{3DD917F9-72B3-40A3-A091-273C5CC74D46}" srcOrd="0" destOrd="0" presId="urn:microsoft.com/office/officeart/2005/8/layout/process4"/>
    <dgm:cxn modelId="{4D02AA3F-B90C-4040-AAEA-74CF5FB0DA03}" srcId="{2D870654-4EFA-4234-815A-28D3970C3C42}" destId="{481BF2EB-7BA9-436B-B6E3-D9E822658738}" srcOrd="2" destOrd="0" parTransId="{3F5DF6A9-CCE1-4A72-B241-E87B1250438C}" sibTransId="{0687FDD6-2C56-4250-BF2C-1BE4487FE2D5}"/>
    <dgm:cxn modelId="{CFC52654-4425-40CF-8897-9B747F8001A4}" srcId="{2D870654-4EFA-4234-815A-28D3970C3C42}" destId="{328DABCE-9EB8-43C3-BFEC-C9E6C0117282}" srcOrd="4" destOrd="0" parTransId="{83E745B8-7650-4AFE-8F6A-4C260168BC0A}" sibTransId="{79A9BB59-032E-43F4-A4CB-9D3A08D4C7E0}"/>
    <dgm:cxn modelId="{3C9C9277-923E-466F-AB88-0D2794E2936B}" type="presOf" srcId="{2D870654-4EFA-4234-815A-28D3970C3C42}" destId="{D48B1118-539B-4841-B13D-9B0887AC0CA6}" srcOrd="0" destOrd="0" presId="urn:microsoft.com/office/officeart/2005/8/layout/process4"/>
    <dgm:cxn modelId="{26198C80-5F2F-47AC-8609-A52B4859579A}" srcId="{2D870654-4EFA-4234-815A-28D3970C3C42}" destId="{BAFC49E8-49DD-438A-8992-FD6C15AC47A5}" srcOrd="3" destOrd="0" parTransId="{2A3145C4-7982-4F79-BF27-6EBF6DB009E7}" sibTransId="{F622BEF9-5F24-4517-8A29-A840304E6292}"/>
    <dgm:cxn modelId="{ACDCD5CB-2070-4DDB-9DB6-6908EBAD0073}" type="presOf" srcId="{468C4E05-031E-430A-8A52-F01C32FB5378}" destId="{1D469B25-D925-47B2-BF68-4FA280A0FF9C}" srcOrd="0" destOrd="0" presId="urn:microsoft.com/office/officeart/2005/8/layout/process4"/>
    <dgm:cxn modelId="{651676D5-81A5-4C6C-A431-A7F72411D315}" type="presOf" srcId="{DC50E95A-A38B-4B65-A81B-8223B7CBCC52}" destId="{5A2E8DE7-D667-4030-B205-0A523E892867}" srcOrd="0" destOrd="0" presId="urn:microsoft.com/office/officeart/2005/8/layout/process4"/>
    <dgm:cxn modelId="{FD0433D8-5C5F-4E50-A833-ECD43261B276}" type="presOf" srcId="{BAFC49E8-49DD-438A-8992-FD6C15AC47A5}" destId="{4343041E-8BC1-4DF9-BAC4-318198EF23C4}" srcOrd="0" destOrd="0" presId="urn:microsoft.com/office/officeart/2005/8/layout/process4"/>
    <dgm:cxn modelId="{A6FAE8D8-A7D2-4060-860B-B90B94A56C8F}" srcId="{2D870654-4EFA-4234-815A-28D3970C3C42}" destId="{DC50E95A-A38B-4B65-A81B-8223B7CBCC52}" srcOrd="0" destOrd="0" parTransId="{B3DCC0BE-F184-4C0C-9114-E85402F015F3}" sibTransId="{C0317F19-EF32-477A-B443-6C399D62E679}"/>
    <dgm:cxn modelId="{C3BE7884-0770-499A-AF90-86C85596E860}" type="presParOf" srcId="{D48B1118-539B-4841-B13D-9B0887AC0CA6}" destId="{8564D840-F2F4-4ECA-B4C5-23B614019949}" srcOrd="0" destOrd="0" presId="urn:microsoft.com/office/officeart/2005/8/layout/process4"/>
    <dgm:cxn modelId="{4E6B6562-BBB5-4828-BD5A-D30158634637}" type="presParOf" srcId="{8564D840-F2F4-4ECA-B4C5-23B614019949}" destId="{309E1F3A-8EDF-4A2E-ACBB-46B531A20BC5}" srcOrd="0" destOrd="0" presId="urn:microsoft.com/office/officeart/2005/8/layout/process4"/>
    <dgm:cxn modelId="{FEBD7956-85BA-41AA-8599-98B9AC63FB5F}" type="presParOf" srcId="{D48B1118-539B-4841-B13D-9B0887AC0CA6}" destId="{DBB86C02-2F72-4DE8-9A4D-BA0E5ACE4EF2}" srcOrd="1" destOrd="0" presId="urn:microsoft.com/office/officeart/2005/8/layout/process4"/>
    <dgm:cxn modelId="{A8F80C97-16F9-43C2-8498-EA2E7E85EBF2}" type="presParOf" srcId="{D48B1118-539B-4841-B13D-9B0887AC0CA6}" destId="{1A06FFC4-C1BA-4CB7-8BD7-C08F9AE83735}" srcOrd="2" destOrd="0" presId="urn:microsoft.com/office/officeart/2005/8/layout/process4"/>
    <dgm:cxn modelId="{145448C7-00A8-4697-AF50-2D4F40E5B774}" type="presParOf" srcId="{1A06FFC4-C1BA-4CB7-8BD7-C08F9AE83735}" destId="{4343041E-8BC1-4DF9-BAC4-318198EF23C4}" srcOrd="0" destOrd="0" presId="urn:microsoft.com/office/officeart/2005/8/layout/process4"/>
    <dgm:cxn modelId="{B7C2D018-A360-4E91-9EEB-BC62D1AB043D}" type="presParOf" srcId="{D48B1118-539B-4841-B13D-9B0887AC0CA6}" destId="{397E6306-09AB-4B71-B6DE-A90DC0AFC971}" srcOrd="3" destOrd="0" presId="urn:microsoft.com/office/officeart/2005/8/layout/process4"/>
    <dgm:cxn modelId="{38238EAF-DBF5-44E5-B916-DD6371DCEDD4}" type="presParOf" srcId="{D48B1118-539B-4841-B13D-9B0887AC0CA6}" destId="{14AD5623-4D0A-4C92-8064-D44C566E7E58}" srcOrd="4" destOrd="0" presId="urn:microsoft.com/office/officeart/2005/8/layout/process4"/>
    <dgm:cxn modelId="{85FB3F04-0AD7-48C7-AE96-5329881B9A2C}" type="presParOf" srcId="{14AD5623-4D0A-4C92-8064-D44C566E7E58}" destId="{3DD917F9-72B3-40A3-A091-273C5CC74D46}" srcOrd="0" destOrd="0" presId="urn:microsoft.com/office/officeart/2005/8/layout/process4"/>
    <dgm:cxn modelId="{C8E8E8DE-8631-4382-9C83-3086BBE8149A}" type="presParOf" srcId="{D48B1118-539B-4841-B13D-9B0887AC0CA6}" destId="{47DC6F0F-4F1C-45D3-9ED4-F59C7D4E49D3}" srcOrd="5" destOrd="0" presId="urn:microsoft.com/office/officeart/2005/8/layout/process4"/>
    <dgm:cxn modelId="{AD58FD51-4367-48EB-A1F1-E1C5DAF2D17D}" type="presParOf" srcId="{D48B1118-539B-4841-B13D-9B0887AC0CA6}" destId="{AE73753A-456F-419E-8B56-B330153CD917}" srcOrd="6" destOrd="0" presId="urn:microsoft.com/office/officeart/2005/8/layout/process4"/>
    <dgm:cxn modelId="{6959A4B6-7883-4681-B262-B9521E99FDC3}" type="presParOf" srcId="{AE73753A-456F-419E-8B56-B330153CD917}" destId="{1D469B25-D925-47B2-BF68-4FA280A0FF9C}" srcOrd="0" destOrd="0" presId="urn:microsoft.com/office/officeart/2005/8/layout/process4"/>
    <dgm:cxn modelId="{6D6E1623-4649-4034-A87A-0BA029062BD9}" type="presParOf" srcId="{D48B1118-539B-4841-B13D-9B0887AC0CA6}" destId="{D2D28969-3371-46FC-AFE7-C8BDE8E6C259}" srcOrd="7" destOrd="0" presId="urn:microsoft.com/office/officeart/2005/8/layout/process4"/>
    <dgm:cxn modelId="{93C35CF0-B81E-4D3F-8BFB-B9DD09181787}" type="presParOf" srcId="{D48B1118-539B-4841-B13D-9B0887AC0CA6}" destId="{1343A47C-43A1-4C88-8C3F-E0DF7FEE6DA5}" srcOrd="8" destOrd="0" presId="urn:microsoft.com/office/officeart/2005/8/layout/process4"/>
    <dgm:cxn modelId="{EB996252-9E5F-4B73-8AB1-C4AF6CDE5621}" type="presParOf" srcId="{1343A47C-43A1-4C88-8C3F-E0DF7FEE6DA5}" destId="{5A2E8DE7-D667-4030-B205-0A523E89286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D51532-CBD2-49FA-A790-BE6BE4D4E93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C30ED51-A973-450C-BD2B-B68752BDAC55}">
      <dgm:prSet/>
      <dgm:spPr/>
      <dgm:t>
        <a:bodyPr/>
        <a:lstStyle/>
        <a:p>
          <a:r>
            <a:rPr lang="en-US" b="0" i="0"/>
            <a:t>Improved visibility into site-level inventory performance.</a:t>
          </a:r>
          <a:endParaRPr lang="en-US"/>
        </a:p>
      </dgm:t>
    </dgm:pt>
    <dgm:pt modelId="{5115565D-85A0-492C-98E6-263FDF5F9EF4}" type="parTrans" cxnId="{F99B2B24-1C9F-4C30-8AE1-815A0930C3D9}">
      <dgm:prSet/>
      <dgm:spPr/>
      <dgm:t>
        <a:bodyPr/>
        <a:lstStyle/>
        <a:p>
          <a:endParaRPr lang="en-US"/>
        </a:p>
      </dgm:t>
    </dgm:pt>
    <dgm:pt modelId="{500091D6-E9C8-4FE7-817F-63363B901836}" type="sibTrans" cxnId="{F99B2B24-1C9F-4C30-8AE1-815A0930C3D9}">
      <dgm:prSet/>
      <dgm:spPr/>
      <dgm:t>
        <a:bodyPr/>
        <a:lstStyle/>
        <a:p>
          <a:endParaRPr lang="en-US"/>
        </a:p>
      </dgm:t>
    </dgm:pt>
    <dgm:pt modelId="{3588AA80-D0C5-4AD3-90E4-FC91F8BA669E}">
      <dgm:prSet/>
      <dgm:spPr/>
      <dgm:t>
        <a:bodyPr/>
        <a:lstStyle/>
        <a:p>
          <a:r>
            <a:rPr lang="en-US" b="0" i="0"/>
            <a:t>Enabled early identification of inventory risk locations.</a:t>
          </a:r>
          <a:endParaRPr lang="en-US"/>
        </a:p>
      </dgm:t>
    </dgm:pt>
    <dgm:pt modelId="{5B7A41F6-25FF-4864-A80D-738BBAB14811}" type="parTrans" cxnId="{68540888-CA17-407D-A472-0F9969ABA8BE}">
      <dgm:prSet/>
      <dgm:spPr/>
      <dgm:t>
        <a:bodyPr/>
        <a:lstStyle/>
        <a:p>
          <a:endParaRPr lang="en-US"/>
        </a:p>
      </dgm:t>
    </dgm:pt>
    <dgm:pt modelId="{8CC18F4E-B42C-41B9-8FBE-D6FA7F0567B7}" type="sibTrans" cxnId="{68540888-CA17-407D-A472-0F9969ABA8BE}">
      <dgm:prSet/>
      <dgm:spPr/>
      <dgm:t>
        <a:bodyPr/>
        <a:lstStyle/>
        <a:p>
          <a:endParaRPr lang="en-US"/>
        </a:p>
      </dgm:t>
    </dgm:pt>
    <dgm:pt modelId="{08289F6B-484B-4D60-94B0-292442F8678C}">
      <dgm:prSet/>
      <dgm:spPr/>
      <dgm:t>
        <a:bodyPr/>
        <a:lstStyle/>
        <a:p>
          <a:r>
            <a:rPr lang="en-US" b="0" i="0"/>
            <a:t>Provided operational insights for inventory balancing and replenishment.</a:t>
          </a:r>
          <a:endParaRPr lang="en-US"/>
        </a:p>
      </dgm:t>
    </dgm:pt>
    <dgm:pt modelId="{6EF3E858-2983-4224-9406-7B47BBEC5CEE}" type="parTrans" cxnId="{F8CCC72C-BE8A-4869-94A6-C97008FF8571}">
      <dgm:prSet/>
      <dgm:spPr/>
      <dgm:t>
        <a:bodyPr/>
        <a:lstStyle/>
        <a:p>
          <a:endParaRPr lang="en-US"/>
        </a:p>
      </dgm:t>
    </dgm:pt>
    <dgm:pt modelId="{4E8C70E8-3EB0-4EF7-BC9B-629124B9FA9C}" type="sibTrans" cxnId="{F8CCC72C-BE8A-4869-94A6-C97008FF8571}">
      <dgm:prSet/>
      <dgm:spPr/>
      <dgm:t>
        <a:bodyPr/>
        <a:lstStyle/>
        <a:p>
          <a:endParaRPr lang="en-US"/>
        </a:p>
      </dgm:t>
    </dgm:pt>
    <dgm:pt modelId="{1CF02EE5-633B-4A07-AC26-5EFABE068664}">
      <dgm:prSet/>
      <dgm:spPr/>
      <dgm:t>
        <a:bodyPr/>
        <a:lstStyle/>
        <a:p>
          <a:r>
            <a:rPr lang="en-US" b="0" i="0"/>
            <a:t>Supported proactive planning through forecast error analysis.</a:t>
          </a:r>
          <a:endParaRPr lang="en-US"/>
        </a:p>
      </dgm:t>
    </dgm:pt>
    <dgm:pt modelId="{2D5F408B-6DCE-41CF-B33D-09A7BDC4982E}" type="parTrans" cxnId="{05A9F888-EA6B-4359-9EE0-4AB3C943B573}">
      <dgm:prSet/>
      <dgm:spPr/>
      <dgm:t>
        <a:bodyPr/>
        <a:lstStyle/>
        <a:p>
          <a:endParaRPr lang="en-US"/>
        </a:p>
      </dgm:t>
    </dgm:pt>
    <dgm:pt modelId="{33F63D72-3AD4-47BF-99C5-242941F220F0}" type="sibTrans" cxnId="{05A9F888-EA6B-4359-9EE0-4AB3C943B573}">
      <dgm:prSet/>
      <dgm:spPr/>
      <dgm:t>
        <a:bodyPr/>
        <a:lstStyle/>
        <a:p>
          <a:endParaRPr lang="en-US"/>
        </a:p>
      </dgm:t>
    </dgm:pt>
    <dgm:pt modelId="{940E5F5A-13B4-458F-AD39-059E695C5454}" type="pres">
      <dgm:prSet presAssocID="{9ED51532-CBD2-49FA-A790-BE6BE4D4E932}" presName="outerComposite" presStyleCnt="0">
        <dgm:presLayoutVars>
          <dgm:chMax val="5"/>
          <dgm:dir/>
          <dgm:resizeHandles val="exact"/>
        </dgm:presLayoutVars>
      </dgm:prSet>
      <dgm:spPr/>
    </dgm:pt>
    <dgm:pt modelId="{C545FA73-B627-4F56-8443-67D4A2F75A2A}" type="pres">
      <dgm:prSet presAssocID="{9ED51532-CBD2-49FA-A790-BE6BE4D4E932}" presName="dummyMaxCanvas" presStyleCnt="0">
        <dgm:presLayoutVars/>
      </dgm:prSet>
      <dgm:spPr/>
    </dgm:pt>
    <dgm:pt modelId="{4BEC76DE-C87A-4CA9-9FED-3F3F11A74B90}" type="pres">
      <dgm:prSet presAssocID="{9ED51532-CBD2-49FA-A790-BE6BE4D4E932}" presName="FourNodes_1" presStyleLbl="node1" presStyleIdx="0" presStyleCnt="4">
        <dgm:presLayoutVars>
          <dgm:bulletEnabled val="1"/>
        </dgm:presLayoutVars>
      </dgm:prSet>
      <dgm:spPr/>
    </dgm:pt>
    <dgm:pt modelId="{E2F37985-2163-4151-B018-5146B7CFAB5A}" type="pres">
      <dgm:prSet presAssocID="{9ED51532-CBD2-49FA-A790-BE6BE4D4E932}" presName="FourNodes_2" presStyleLbl="node1" presStyleIdx="1" presStyleCnt="4">
        <dgm:presLayoutVars>
          <dgm:bulletEnabled val="1"/>
        </dgm:presLayoutVars>
      </dgm:prSet>
      <dgm:spPr/>
    </dgm:pt>
    <dgm:pt modelId="{21982CA9-BFC0-434B-8CFC-A0F8CD2C7F11}" type="pres">
      <dgm:prSet presAssocID="{9ED51532-CBD2-49FA-A790-BE6BE4D4E932}" presName="FourNodes_3" presStyleLbl="node1" presStyleIdx="2" presStyleCnt="4">
        <dgm:presLayoutVars>
          <dgm:bulletEnabled val="1"/>
        </dgm:presLayoutVars>
      </dgm:prSet>
      <dgm:spPr/>
    </dgm:pt>
    <dgm:pt modelId="{55229EC3-3986-4E58-8C72-7EA5C865A553}" type="pres">
      <dgm:prSet presAssocID="{9ED51532-CBD2-49FA-A790-BE6BE4D4E932}" presName="FourNodes_4" presStyleLbl="node1" presStyleIdx="3" presStyleCnt="4">
        <dgm:presLayoutVars>
          <dgm:bulletEnabled val="1"/>
        </dgm:presLayoutVars>
      </dgm:prSet>
      <dgm:spPr/>
    </dgm:pt>
    <dgm:pt modelId="{C3AF5CEA-B503-4914-B021-6F5A364E1C1E}" type="pres">
      <dgm:prSet presAssocID="{9ED51532-CBD2-49FA-A790-BE6BE4D4E932}" presName="FourConn_1-2" presStyleLbl="fgAccFollowNode1" presStyleIdx="0" presStyleCnt="3">
        <dgm:presLayoutVars>
          <dgm:bulletEnabled val="1"/>
        </dgm:presLayoutVars>
      </dgm:prSet>
      <dgm:spPr/>
    </dgm:pt>
    <dgm:pt modelId="{B826C993-78BB-4E77-8B80-D305629C75AD}" type="pres">
      <dgm:prSet presAssocID="{9ED51532-CBD2-49FA-A790-BE6BE4D4E932}" presName="FourConn_2-3" presStyleLbl="fgAccFollowNode1" presStyleIdx="1" presStyleCnt="3">
        <dgm:presLayoutVars>
          <dgm:bulletEnabled val="1"/>
        </dgm:presLayoutVars>
      </dgm:prSet>
      <dgm:spPr/>
    </dgm:pt>
    <dgm:pt modelId="{CAC43029-1330-4AE2-9542-026EBEC3BC57}" type="pres">
      <dgm:prSet presAssocID="{9ED51532-CBD2-49FA-A790-BE6BE4D4E932}" presName="FourConn_3-4" presStyleLbl="fgAccFollowNode1" presStyleIdx="2" presStyleCnt="3">
        <dgm:presLayoutVars>
          <dgm:bulletEnabled val="1"/>
        </dgm:presLayoutVars>
      </dgm:prSet>
      <dgm:spPr/>
    </dgm:pt>
    <dgm:pt modelId="{7F826B2D-8C06-405F-893E-8CEC0D9B1355}" type="pres">
      <dgm:prSet presAssocID="{9ED51532-CBD2-49FA-A790-BE6BE4D4E932}" presName="FourNodes_1_text" presStyleLbl="node1" presStyleIdx="3" presStyleCnt="4">
        <dgm:presLayoutVars>
          <dgm:bulletEnabled val="1"/>
        </dgm:presLayoutVars>
      </dgm:prSet>
      <dgm:spPr/>
    </dgm:pt>
    <dgm:pt modelId="{CFCD1449-A813-4E52-8B03-8BEA08C01D0C}" type="pres">
      <dgm:prSet presAssocID="{9ED51532-CBD2-49FA-A790-BE6BE4D4E932}" presName="FourNodes_2_text" presStyleLbl="node1" presStyleIdx="3" presStyleCnt="4">
        <dgm:presLayoutVars>
          <dgm:bulletEnabled val="1"/>
        </dgm:presLayoutVars>
      </dgm:prSet>
      <dgm:spPr/>
    </dgm:pt>
    <dgm:pt modelId="{7B5722CE-821F-4BD3-BDFC-F7DC913F5458}" type="pres">
      <dgm:prSet presAssocID="{9ED51532-CBD2-49FA-A790-BE6BE4D4E932}" presName="FourNodes_3_text" presStyleLbl="node1" presStyleIdx="3" presStyleCnt="4">
        <dgm:presLayoutVars>
          <dgm:bulletEnabled val="1"/>
        </dgm:presLayoutVars>
      </dgm:prSet>
      <dgm:spPr/>
    </dgm:pt>
    <dgm:pt modelId="{DEACDC67-E644-4C22-99E5-EE553BBA4AF7}" type="pres">
      <dgm:prSet presAssocID="{9ED51532-CBD2-49FA-A790-BE6BE4D4E93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99B2B24-1C9F-4C30-8AE1-815A0930C3D9}" srcId="{9ED51532-CBD2-49FA-A790-BE6BE4D4E932}" destId="{4C30ED51-A973-450C-BD2B-B68752BDAC55}" srcOrd="0" destOrd="0" parTransId="{5115565D-85A0-492C-98E6-263FDF5F9EF4}" sibTransId="{500091D6-E9C8-4FE7-817F-63363B901836}"/>
    <dgm:cxn modelId="{F8CCC72C-BE8A-4869-94A6-C97008FF8571}" srcId="{9ED51532-CBD2-49FA-A790-BE6BE4D4E932}" destId="{08289F6B-484B-4D60-94B0-292442F8678C}" srcOrd="2" destOrd="0" parTransId="{6EF3E858-2983-4224-9406-7B47BBEC5CEE}" sibTransId="{4E8C70E8-3EB0-4EF7-BC9B-629124B9FA9C}"/>
    <dgm:cxn modelId="{F2045634-116E-4B05-A63B-287BAE3B81FE}" type="presOf" srcId="{1CF02EE5-633B-4A07-AC26-5EFABE068664}" destId="{DEACDC67-E644-4C22-99E5-EE553BBA4AF7}" srcOrd="1" destOrd="0" presId="urn:microsoft.com/office/officeart/2005/8/layout/vProcess5"/>
    <dgm:cxn modelId="{15187B3B-B466-4061-B8FD-C3ADDB05815F}" type="presOf" srcId="{1CF02EE5-633B-4A07-AC26-5EFABE068664}" destId="{55229EC3-3986-4E58-8C72-7EA5C865A553}" srcOrd="0" destOrd="0" presId="urn:microsoft.com/office/officeart/2005/8/layout/vProcess5"/>
    <dgm:cxn modelId="{9B091E5D-28B4-4574-9F17-B13CF72DB15A}" type="presOf" srcId="{4C30ED51-A973-450C-BD2B-B68752BDAC55}" destId="{4BEC76DE-C87A-4CA9-9FED-3F3F11A74B90}" srcOrd="0" destOrd="0" presId="urn:microsoft.com/office/officeart/2005/8/layout/vProcess5"/>
    <dgm:cxn modelId="{F01E2642-2ECD-46A7-B9BA-0A33E9203516}" type="presOf" srcId="{4E8C70E8-3EB0-4EF7-BC9B-629124B9FA9C}" destId="{CAC43029-1330-4AE2-9542-026EBEC3BC57}" srcOrd="0" destOrd="0" presId="urn:microsoft.com/office/officeart/2005/8/layout/vProcess5"/>
    <dgm:cxn modelId="{773B4965-D28F-4761-B870-CD312A0B5294}" type="presOf" srcId="{3588AA80-D0C5-4AD3-90E4-FC91F8BA669E}" destId="{E2F37985-2163-4151-B018-5146B7CFAB5A}" srcOrd="0" destOrd="0" presId="urn:microsoft.com/office/officeart/2005/8/layout/vProcess5"/>
    <dgm:cxn modelId="{28361C50-BEA5-4ADA-93E1-C6CBCF67D81B}" type="presOf" srcId="{08289F6B-484B-4D60-94B0-292442F8678C}" destId="{7B5722CE-821F-4BD3-BDFC-F7DC913F5458}" srcOrd="1" destOrd="0" presId="urn:microsoft.com/office/officeart/2005/8/layout/vProcess5"/>
    <dgm:cxn modelId="{03743F75-2AB8-4884-880F-107EC398FEAA}" type="presOf" srcId="{9ED51532-CBD2-49FA-A790-BE6BE4D4E932}" destId="{940E5F5A-13B4-458F-AD39-059E695C5454}" srcOrd="0" destOrd="0" presId="urn:microsoft.com/office/officeart/2005/8/layout/vProcess5"/>
    <dgm:cxn modelId="{90EB2E56-948C-4A87-8D41-1ACD02DEB99D}" type="presOf" srcId="{8CC18F4E-B42C-41B9-8FBE-D6FA7F0567B7}" destId="{B826C993-78BB-4E77-8B80-D305629C75AD}" srcOrd="0" destOrd="0" presId="urn:microsoft.com/office/officeart/2005/8/layout/vProcess5"/>
    <dgm:cxn modelId="{68540888-CA17-407D-A472-0F9969ABA8BE}" srcId="{9ED51532-CBD2-49FA-A790-BE6BE4D4E932}" destId="{3588AA80-D0C5-4AD3-90E4-FC91F8BA669E}" srcOrd="1" destOrd="0" parTransId="{5B7A41F6-25FF-4864-A80D-738BBAB14811}" sibTransId="{8CC18F4E-B42C-41B9-8FBE-D6FA7F0567B7}"/>
    <dgm:cxn modelId="{05A9F888-EA6B-4359-9EE0-4AB3C943B573}" srcId="{9ED51532-CBD2-49FA-A790-BE6BE4D4E932}" destId="{1CF02EE5-633B-4A07-AC26-5EFABE068664}" srcOrd="3" destOrd="0" parTransId="{2D5F408B-6DCE-41CF-B33D-09A7BDC4982E}" sibTransId="{33F63D72-3AD4-47BF-99C5-242941F220F0}"/>
    <dgm:cxn modelId="{E2B9D7B3-FDAC-4C7A-B4B9-0344B0B6F813}" type="presOf" srcId="{3588AA80-D0C5-4AD3-90E4-FC91F8BA669E}" destId="{CFCD1449-A813-4E52-8B03-8BEA08C01D0C}" srcOrd="1" destOrd="0" presId="urn:microsoft.com/office/officeart/2005/8/layout/vProcess5"/>
    <dgm:cxn modelId="{1E4D14C8-90A3-4431-8829-0DA74A2DC833}" type="presOf" srcId="{500091D6-E9C8-4FE7-817F-63363B901836}" destId="{C3AF5CEA-B503-4914-B021-6F5A364E1C1E}" srcOrd="0" destOrd="0" presId="urn:microsoft.com/office/officeart/2005/8/layout/vProcess5"/>
    <dgm:cxn modelId="{64B176E7-F98E-4F47-A1FE-AE1CF76389D4}" type="presOf" srcId="{4C30ED51-A973-450C-BD2B-B68752BDAC55}" destId="{7F826B2D-8C06-405F-893E-8CEC0D9B1355}" srcOrd="1" destOrd="0" presId="urn:microsoft.com/office/officeart/2005/8/layout/vProcess5"/>
    <dgm:cxn modelId="{638908ED-9F88-402B-A65C-38CA6E2F9981}" type="presOf" srcId="{08289F6B-484B-4D60-94B0-292442F8678C}" destId="{21982CA9-BFC0-434B-8CFC-A0F8CD2C7F11}" srcOrd="0" destOrd="0" presId="urn:microsoft.com/office/officeart/2005/8/layout/vProcess5"/>
    <dgm:cxn modelId="{9E88528B-84E4-4490-93E1-5A809604C22D}" type="presParOf" srcId="{940E5F5A-13B4-458F-AD39-059E695C5454}" destId="{C545FA73-B627-4F56-8443-67D4A2F75A2A}" srcOrd="0" destOrd="0" presId="urn:microsoft.com/office/officeart/2005/8/layout/vProcess5"/>
    <dgm:cxn modelId="{928DF480-65B0-4C98-9372-BC5C5BC2CB26}" type="presParOf" srcId="{940E5F5A-13B4-458F-AD39-059E695C5454}" destId="{4BEC76DE-C87A-4CA9-9FED-3F3F11A74B90}" srcOrd="1" destOrd="0" presId="urn:microsoft.com/office/officeart/2005/8/layout/vProcess5"/>
    <dgm:cxn modelId="{6EAFAA07-A957-4B78-8713-7A4C62B920C0}" type="presParOf" srcId="{940E5F5A-13B4-458F-AD39-059E695C5454}" destId="{E2F37985-2163-4151-B018-5146B7CFAB5A}" srcOrd="2" destOrd="0" presId="urn:microsoft.com/office/officeart/2005/8/layout/vProcess5"/>
    <dgm:cxn modelId="{6D2162A1-EB39-4DE9-8370-0D986831B73D}" type="presParOf" srcId="{940E5F5A-13B4-458F-AD39-059E695C5454}" destId="{21982CA9-BFC0-434B-8CFC-A0F8CD2C7F11}" srcOrd="3" destOrd="0" presId="urn:microsoft.com/office/officeart/2005/8/layout/vProcess5"/>
    <dgm:cxn modelId="{E27BCA80-5ACD-4C1B-B42F-3C262A1127CD}" type="presParOf" srcId="{940E5F5A-13B4-458F-AD39-059E695C5454}" destId="{55229EC3-3986-4E58-8C72-7EA5C865A553}" srcOrd="4" destOrd="0" presId="urn:microsoft.com/office/officeart/2005/8/layout/vProcess5"/>
    <dgm:cxn modelId="{B040654B-256E-4A36-B3B5-DF825F137EDD}" type="presParOf" srcId="{940E5F5A-13B4-458F-AD39-059E695C5454}" destId="{C3AF5CEA-B503-4914-B021-6F5A364E1C1E}" srcOrd="5" destOrd="0" presId="urn:microsoft.com/office/officeart/2005/8/layout/vProcess5"/>
    <dgm:cxn modelId="{25F0BC8A-6235-4BEA-90C8-94C40300F905}" type="presParOf" srcId="{940E5F5A-13B4-458F-AD39-059E695C5454}" destId="{B826C993-78BB-4E77-8B80-D305629C75AD}" srcOrd="6" destOrd="0" presId="urn:microsoft.com/office/officeart/2005/8/layout/vProcess5"/>
    <dgm:cxn modelId="{DA291E88-E1F9-4021-B54D-A6FE60513A31}" type="presParOf" srcId="{940E5F5A-13B4-458F-AD39-059E695C5454}" destId="{CAC43029-1330-4AE2-9542-026EBEC3BC57}" srcOrd="7" destOrd="0" presId="urn:microsoft.com/office/officeart/2005/8/layout/vProcess5"/>
    <dgm:cxn modelId="{DAB700DA-3522-437A-9B01-4F6CF2D489DF}" type="presParOf" srcId="{940E5F5A-13B4-458F-AD39-059E695C5454}" destId="{7F826B2D-8C06-405F-893E-8CEC0D9B1355}" srcOrd="8" destOrd="0" presId="urn:microsoft.com/office/officeart/2005/8/layout/vProcess5"/>
    <dgm:cxn modelId="{52D78DA8-E028-4C1E-BEFE-6EB120D3A30A}" type="presParOf" srcId="{940E5F5A-13B4-458F-AD39-059E695C5454}" destId="{CFCD1449-A813-4E52-8B03-8BEA08C01D0C}" srcOrd="9" destOrd="0" presId="urn:microsoft.com/office/officeart/2005/8/layout/vProcess5"/>
    <dgm:cxn modelId="{0CCA314F-5377-4261-A5B1-28050A7BC5AE}" type="presParOf" srcId="{940E5F5A-13B4-458F-AD39-059E695C5454}" destId="{7B5722CE-821F-4BD3-BDFC-F7DC913F5458}" srcOrd="10" destOrd="0" presId="urn:microsoft.com/office/officeart/2005/8/layout/vProcess5"/>
    <dgm:cxn modelId="{BCA77EF8-2D27-42F1-A54D-582F0E0BD28C}" type="presParOf" srcId="{940E5F5A-13B4-458F-AD39-059E695C5454}" destId="{DEACDC67-E644-4C22-99E5-EE553BBA4AF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0CF93-A0E2-41E9-9DE7-B487B85750DA}">
      <dsp:nvSpPr>
        <dsp:cNvPr id="0" name=""/>
        <dsp:cNvSpPr/>
      </dsp:nvSpPr>
      <dsp:spPr>
        <a:xfrm>
          <a:off x="3810489" y="669530"/>
          <a:ext cx="5163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349" y="45720"/>
              </a:lnTo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54990" y="712516"/>
        <a:ext cx="27347" cy="5469"/>
      </dsp:txXfrm>
    </dsp:sp>
    <dsp:sp modelId="{28C8F41D-0E7F-47B2-8C1E-7575AAA720CC}">
      <dsp:nvSpPr>
        <dsp:cNvPr id="0" name=""/>
        <dsp:cNvSpPr/>
      </dsp:nvSpPr>
      <dsp:spPr>
        <a:xfrm>
          <a:off x="1434246" y="1838"/>
          <a:ext cx="2378042" cy="14268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6" tIns="122315" rIns="116526" bIns="1223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Develop a machine learning model to forecast cement demand across multiple construction sites.</a:t>
          </a:r>
          <a:endParaRPr lang="en-US" sz="1400" kern="1200"/>
        </a:p>
      </dsp:txBody>
      <dsp:txXfrm>
        <a:off x="1434246" y="1838"/>
        <a:ext cx="2378042" cy="1426825"/>
      </dsp:txXfrm>
    </dsp:sp>
    <dsp:sp modelId="{9EAD1906-A136-4892-BDB2-D30A3E934438}">
      <dsp:nvSpPr>
        <dsp:cNvPr id="0" name=""/>
        <dsp:cNvSpPr/>
      </dsp:nvSpPr>
      <dsp:spPr>
        <a:xfrm>
          <a:off x="2623267" y="1426863"/>
          <a:ext cx="2924992" cy="516349"/>
        </a:xfrm>
        <a:custGeom>
          <a:avLst/>
          <a:gdLst/>
          <a:ahLst/>
          <a:cxnLst/>
          <a:rect l="0" t="0" r="0" b="0"/>
          <a:pathLst>
            <a:path>
              <a:moveTo>
                <a:pt x="2924992" y="0"/>
              </a:moveTo>
              <a:lnTo>
                <a:pt x="2924992" y="275274"/>
              </a:lnTo>
              <a:lnTo>
                <a:pt x="0" y="275274"/>
              </a:lnTo>
              <a:lnTo>
                <a:pt x="0" y="516349"/>
              </a:lnTo>
            </a:path>
          </a:pathLst>
        </a:custGeom>
        <a:noFill/>
        <a:ln w="9525" cap="rnd" cmpd="sng" algn="ctr">
          <a:solidFill>
            <a:schemeClr val="accent5">
              <a:hueOff val="3655316"/>
              <a:satOff val="397"/>
              <a:lumOff val="-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11371" y="1682303"/>
        <a:ext cx="148784" cy="5469"/>
      </dsp:txXfrm>
    </dsp:sp>
    <dsp:sp modelId="{2EE790CC-EC36-4DA4-9A1B-3C61B86999B6}">
      <dsp:nvSpPr>
        <dsp:cNvPr id="0" name=""/>
        <dsp:cNvSpPr/>
      </dsp:nvSpPr>
      <dsp:spPr>
        <a:xfrm>
          <a:off x="4359238" y="1838"/>
          <a:ext cx="2378042" cy="1426825"/>
        </a:xfrm>
        <a:prstGeom prst="rect">
          <a:avLst/>
        </a:prstGeom>
        <a:solidFill>
          <a:schemeClr val="accent5">
            <a:hueOff val="2436877"/>
            <a:satOff val="265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6" tIns="122315" rIns="116526" bIns="1223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Analyze operational drivers influencing cement consumption.</a:t>
          </a:r>
          <a:endParaRPr lang="en-US" sz="1400" kern="1200"/>
        </a:p>
      </dsp:txBody>
      <dsp:txXfrm>
        <a:off x="4359238" y="1838"/>
        <a:ext cx="2378042" cy="1426825"/>
      </dsp:txXfrm>
    </dsp:sp>
    <dsp:sp modelId="{4D4D3084-8F55-4264-AD5B-96B1A298B308}">
      <dsp:nvSpPr>
        <dsp:cNvPr id="0" name=""/>
        <dsp:cNvSpPr/>
      </dsp:nvSpPr>
      <dsp:spPr>
        <a:xfrm>
          <a:off x="3810489" y="2643306"/>
          <a:ext cx="5163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349" y="45720"/>
              </a:lnTo>
            </a:path>
          </a:pathLst>
        </a:custGeom>
        <a:noFill/>
        <a:ln w="9525" cap="rnd" cmpd="sng" algn="ctr">
          <a:solidFill>
            <a:schemeClr val="accent5">
              <a:hueOff val="7310632"/>
              <a:satOff val="795"/>
              <a:lumOff val="-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54990" y="2686291"/>
        <a:ext cx="27347" cy="5469"/>
      </dsp:txXfrm>
    </dsp:sp>
    <dsp:sp modelId="{9202BF6E-3C2B-4359-AFFB-F4B21F326F0D}">
      <dsp:nvSpPr>
        <dsp:cNvPr id="0" name=""/>
        <dsp:cNvSpPr/>
      </dsp:nvSpPr>
      <dsp:spPr>
        <a:xfrm>
          <a:off x="1434246" y="1975613"/>
          <a:ext cx="2378042" cy="1426825"/>
        </a:xfrm>
        <a:prstGeom prst="rect">
          <a:avLst/>
        </a:prstGeom>
        <a:solidFill>
          <a:schemeClr val="accent5">
            <a:hueOff val="4873755"/>
            <a:satOff val="530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6" tIns="122315" rIns="116526" bIns="1223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Simulate inventory performance and identify potential inventory risk locations.</a:t>
          </a:r>
          <a:endParaRPr lang="en-US" sz="1400" kern="1200"/>
        </a:p>
      </dsp:txBody>
      <dsp:txXfrm>
        <a:off x="1434246" y="1975613"/>
        <a:ext cx="2378042" cy="1426825"/>
      </dsp:txXfrm>
    </dsp:sp>
    <dsp:sp modelId="{352833A0-53A9-458A-9943-DBAB5E03EDD9}">
      <dsp:nvSpPr>
        <dsp:cNvPr id="0" name=""/>
        <dsp:cNvSpPr/>
      </dsp:nvSpPr>
      <dsp:spPr>
        <a:xfrm>
          <a:off x="4359238" y="1975613"/>
          <a:ext cx="2378042" cy="1426825"/>
        </a:xfrm>
        <a:prstGeom prst="rect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6" tIns="122315" rIns="116526" bIns="1223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Support data-driven planning and decision-making for operations teams.</a:t>
          </a:r>
          <a:endParaRPr lang="en-US" sz="1400" kern="1200"/>
        </a:p>
      </dsp:txBody>
      <dsp:txXfrm>
        <a:off x="4359238" y="1975613"/>
        <a:ext cx="2378042" cy="14268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4D3A6-FE65-4617-B2C8-DD594DF749C7}">
      <dsp:nvSpPr>
        <dsp:cNvPr id="0" name=""/>
        <dsp:cNvSpPr/>
      </dsp:nvSpPr>
      <dsp:spPr>
        <a:xfrm>
          <a:off x="0" y="3571"/>
          <a:ext cx="4872038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971DEC-184D-420F-9C52-B9F365125C30}">
      <dsp:nvSpPr>
        <dsp:cNvPr id="0" name=""/>
        <dsp:cNvSpPr/>
      </dsp:nvSpPr>
      <dsp:spPr>
        <a:xfrm>
          <a:off x="230144" y="174753"/>
          <a:ext cx="418445" cy="4184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0F0541-E674-451C-A9C5-5F96B0614DAC}">
      <dsp:nvSpPr>
        <dsp:cNvPr id="0" name=""/>
        <dsp:cNvSpPr/>
      </dsp:nvSpPr>
      <dsp:spPr>
        <a:xfrm>
          <a:off x="878734" y="3571"/>
          <a:ext cx="3993303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Collected and prepared operational, weather, and inventory datasets.</a:t>
          </a:r>
          <a:endParaRPr lang="en-US" sz="1500" kern="1200"/>
        </a:p>
      </dsp:txBody>
      <dsp:txXfrm>
        <a:off x="878734" y="3571"/>
        <a:ext cx="3993303" cy="760809"/>
      </dsp:txXfrm>
    </dsp:sp>
    <dsp:sp modelId="{44E8309B-BA5E-4CFD-9BB6-37825FE8422B}">
      <dsp:nvSpPr>
        <dsp:cNvPr id="0" name=""/>
        <dsp:cNvSpPr/>
      </dsp:nvSpPr>
      <dsp:spPr>
        <a:xfrm>
          <a:off x="0" y="954583"/>
          <a:ext cx="4872038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29958-341C-4EC5-8C2D-672F0EA3854A}">
      <dsp:nvSpPr>
        <dsp:cNvPr id="0" name=""/>
        <dsp:cNvSpPr/>
      </dsp:nvSpPr>
      <dsp:spPr>
        <a:xfrm>
          <a:off x="230144" y="1125765"/>
          <a:ext cx="418445" cy="4184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9475E-C166-46C9-AA08-4AC37D5EAAB0}">
      <dsp:nvSpPr>
        <dsp:cNvPr id="0" name=""/>
        <dsp:cNvSpPr/>
      </dsp:nvSpPr>
      <dsp:spPr>
        <a:xfrm>
          <a:off x="878734" y="954583"/>
          <a:ext cx="3993303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Performed exploratory data analysis and feature engineering.</a:t>
          </a:r>
          <a:endParaRPr lang="en-US" sz="1500" kern="1200"/>
        </a:p>
      </dsp:txBody>
      <dsp:txXfrm>
        <a:off x="878734" y="954583"/>
        <a:ext cx="3993303" cy="760809"/>
      </dsp:txXfrm>
    </dsp:sp>
    <dsp:sp modelId="{90AA20DE-67FB-4D43-B27D-7FBD1232FE14}">
      <dsp:nvSpPr>
        <dsp:cNvPr id="0" name=""/>
        <dsp:cNvSpPr/>
      </dsp:nvSpPr>
      <dsp:spPr>
        <a:xfrm>
          <a:off x="0" y="1905595"/>
          <a:ext cx="4872038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48292-3B93-4E13-90D7-FD46091718BE}">
      <dsp:nvSpPr>
        <dsp:cNvPr id="0" name=""/>
        <dsp:cNvSpPr/>
      </dsp:nvSpPr>
      <dsp:spPr>
        <a:xfrm>
          <a:off x="230144" y="2076777"/>
          <a:ext cx="418445" cy="4184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0F663F-BB8B-42D4-B9A8-88BDB7B4FB03}">
      <dsp:nvSpPr>
        <dsp:cNvPr id="0" name=""/>
        <dsp:cNvSpPr/>
      </dsp:nvSpPr>
      <dsp:spPr>
        <a:xfrm>
          <a:off x="878734" y="1905595"/>
          <a:ext cx="3993303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Built and evaluated forecasting models including Random Forest and SARIMAX.</a:t>
          </a:r>
          <a:endParaRPr lang="en-US" sz="1500" kern="1200"/>
        </a:p>
      </dsp:txBody>
      <dsp:txXfrm>
        <a:off x="878734" y="1905595"/>
        <a:ext cx="3993303" cy="760809"/>
      </dsp:txXfrm>
    </dsp:sp>
    <dsp:sp modelId="{4031CF9E-F6C5-415C-8D5A-8902D0B72F60}">
      <dsp:nvSpPr>
        <dsp:cNvPr id="0" name=""/>
        <dsp:cNvSpPr/>
      </dsp:nvSpPr>
      <dsp:spPr>
        <a:xfrm>
          <a:off x="0" y="2856607"/>
          <a:ext cx="4872038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0AF5D3-7DF1-412B-9EFB-A289511F36CE}">
      <dsp:nvSpPr>
        <dsp:cNvPr id="0" name=""/>
        <dsp:cNvSpPr/>
      </dsp:nvSpPr>
      <dsp:spPr>
        <a:xfrm>
          <a:off x="230144" y="3027789"/>
          <a:ext cx="418445" cy="4184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B55B7-43D8-4225-A626-73D83B7BA618}">
      <dsp:nvSpPr>
        <dsp:cNvPr id="0" name=""/>
        <dsp:cNvSpPr/>
      </dsp:nvSpPr>
      <dsp:spPr>
        <a:xfrm>
          <a:off x="878734" y="2856607"/>
          <a:ext cx="3993303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Selected Random Forest based on superior RMSE, MAE, and R² performance.</a:t>
          </a:r>
          <a:endParaRPr lang="en-US" sz="1500" kern="1200"/>
        </a:p>
      </dsp:txBody>
      <dsp:txXfrm>
        <a:off x="878734" y="2856607"/>
        <a:ext cx="3993303" cy="760809"/>
      </dsp:txXfrm>
    </dsp:sp>
    <dsp:sp modelId="{AD06F3BC-A916-41D4-98E9-8F0EBD34BFCE}">
      <dsp:nvSpPr>
        <dsp:cNvPr id="0" name=""/>
        <dsp:cNvSpPr/>
      </dsp:nvSpPr>
      <dsp:spPr>
        <a:xfrm>
          <a:off x="0" y="3807618"/>
          <a:ext cx="4872038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11CF7-C286-414D-9F3D-FBCF55348639}">
      <dsp:nvSpPr>
        <dsp:cNvPr id="0" name=""/>
        <dsp:cNvSpPr/>
      </dsp:nvSpPr>
      <dsp:spPr>
        <a:xfrm>
          <a:off x="230144" y="3978800"/>
          <a:ext cx="418445" cy="4184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2440B-DCB0-460F-B030-5EE6DEA26725}">
      <dsp:nvSpPr>
        <dsp:cNvPr id="0" name=""/>
        <dsp:cNvSpPr/>
      </dsp:nvSpPr>
      <dsp:spPr>
        <a:xfrm>
          <a:off x="878734" y="3807618"/>
          <a:ext cx="3993303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Generated site-level inventory simulations and dashboard visualizations.</a:t>
          </a:r>
          <a:endParaRPr lang="en-US" sz="1500" kern="1200"/>
        </a:p>
      </dsp:txBody>
      <dsp:txXfrm>
        <a:off x="878734" y="3807618"/>
        <a:ext cx="3993303" cy="7608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9E1F3A-8EDF-4A2E-ACBB-46B531A20BC5}">
      <dsp:nvSpPr>
        <dsp:cNvPr id="0" name=""/>
        <dsp:cNvSpPr/>
      </dsp:nvSpPr>
      <dsp:spPr>
        <a:xfrm>
          <a:off x="0" y="4147440"/>
          <a:ext cx="7681009" cy="6804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The model successfully captured operational demand fluctuations across observations.</a:t>
          </a:r>
          <a:endParaRPr lang="en-US" sz="1400" kern="1200" dirty="0"/>
        </a:p>
      </dsp:txBody>
      <dsp:txXfrm>
        <a:off x="0" y="4147440"/>
        <a:ext cx="7681009" cy="680422"/>
      </dsp:txXfrm>
    </dsp:sp>
    <dsp:sp modelId="{4343041E-8BC1-4DF9-BAC4-318198EF23C4}">
      <dsp:nvSpPr>
        <dsp:cNvPr id="0" name=""/>
        <dsp:cNvSpPr/>
      </dsp:nvSpPr>
      <dsp:spPr>
        <a:xfrm rot="10800000">
          <a:off x="0" y="3111157"/>
          <a:ext cx="7681009" cy="1046489"/>
        </a:xfrm>
        <a:prstGeom prst="upArrowCallout">
          <a:avLst/>
        </a:prstGeom>
        <a:solidFill>
          <a:schemeClr val="accent5">
            <a:hueOff val="1827658"/>
            <a:satOff val="199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R² Score: 0.998 (Model Accuracy is approximately 99.8%)</a:t>
          </a:r>
          <a:endParaRPr lang="en-US" sz="1400" kern="1200" dirty="0"/>
        </a:p>
      </dsp:txBody>
      <dsp:txXfrm rot="10800000">
        <a:off x="0" y="3111157"/>
        <a:ext cx="7681009" cy="679977"/>
      </dsp:txXfrm>
    </dsp:sp>
    <dsp:sp modelId="{3DD917F9-72B3-40A3-A091-273C5CC74D46}">
      <dsp:nvSpPr>
        <dsp:cNvPr id="0" name=""/>
        <dsp:cNvSpPr/>
      </dsp:nvSpPr>
      <dsp:spPr>
        <a:xfrm rot="10800000">
          <a:off x="0" y="2074874"/>
          <a:ext cx="7681009" cy="1046489"/>
        </a:xfrm>
        <a:prstGeom prst="upArrowCallout">
          <a:avLst/>
        </a:prstGeom>
        <a:solidFill>
          <a:schemeClr val="accent5">
            <a:hueOff val="3655316"/>
            <a:satOff val="397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MAE: 0.16 (Minimal Difference between Actual &amp; Predicted Demand)</a:t>
          </a:r>
          <a:endParaRPr lang="en-US" sz="1400" kern="1200" dirty="0"/>
        </a:p>
      </dsp:txBody>
      <dsp:txXfrm rot="10800000">
        <a:off x="0" y="2074874"/>
        <a:ext cx="7681009" cy="679977"/>
      </dsp:txXfrm>
    </dsp:sp>
    <dsp:sp modelId="{1D469B25-D925-47B2-BF68-4FA280A0FF9C}">
      <dsp:nvSpPr>
        <dsp:cNvPr id="0" name=""/>
        <dsp:cNvSpPr/>
      </dsp:nvSpPr>
      <dsp:spPr>
        <a:xfrm rot="10800000">
          <a:off x="0" y="1038591"/>
          <a:ext cx="7681009" cy="1046489"/>
        </a:xfrm>
        <a:prstGeom prst="upArrowCallout">
          <a:avLst/>
        </a:prstGeom>
        <a:solidFill>
          <a:schemeClr val="accent5">
            <a:hueOff val="5482974"/>
            <a:satOff val="596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RMSE: 0.71(Very low Prediction error)</a:t>
          </a:r>
          <a:endParaRPr lang="en-US" sz="1400" kern="1200" dirty="0"/>
        </a:p>
      </dsp:txBody>
      <dsp:txXfrm rot="10800000">
        <a:off x="0" y="1038591"/>
        <a:ext cx="7681009" cy="679977"/>
      </dsp:txXfrm>
    </dsp:sp>
    <dsp:sp modelId="{5A2E8DE7-D667-4030-B205-0A523E892867}">
      <dsp:nvSpPr>
        <dsp:cNvPr id="0" name=""/>
        <dsp:cNvSpPr/>
      </dsp:nvSpPr>
      <dsp:spPr>
        <a:xfrm rot="10800000">
          <a:off x="0" y="2308"/>
          <a:ext cx="7681009" cy="1046489"/>
        </a:xfrm>
        <a:prstGeom prst="upArrowCallout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Random Forest achieved the best  forecasting performance among the evaluated models.</a:t>
          </a:r>
          <a:endParaRPr lang="en-US" sz="1400" kern="1200" dirty="0"/>
        </a:p>
      </dsp:txBody>
      <dsp:txXfrm rot="10800000">
        <a:off x="0" y="2308"/>
        <a:ext cx="7681009" cy="6799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C76DE-C87A-4CA9-9FED-3F3F11A74B90}">
      <dsp:nvSpPr>
        <dsp:cNvPr id="0" name=""/>
        <dsp:cNvSpPr/>
      </dsp:nvSpPr>
      <dsp:spPr>
        <a:xfrm>
          <a:off x="0" y="0"/>
          <a:ext cx="5642611" cy="8924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Improved visibility into site-level inventory performance.</a:t>
          </a:r>
          <a:endParaRPr lang="en-US" sz="1700" kern="1200"/>
        </a:p>
      </dsp:txBody>
      <dsp:txXfrm>
        <a:off x="26138" y="26138"/>
        <a:ext cx="4604216" cy="840139"/>
      </dsp:txXfrm>
    </dsp:sp>
    <dsp:sp modelId="{E2F37985-2163-4151-B018-5146B7CFAB5A}">
      <dsp:nvSpPr>
        <dsp:cNvPr id="0" name=""/>
        <dsp:cNvSpPr/>
      </dsp:nvSpPr>
      <dsp:spPr>
        <a:xfrm>
          <a:off x="472568" y="1054672"/>
          <a:ext cx="5642611" cy="8924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Enabled early identification of inventory risk locations.</a:t>
          </a:r>
          <a:endParaRPr lang="en-US" sz="1700" kern="1200"/>
        </a:p>
      </dsp:txBody>
      <dsp:txXfrm>
        <a:off x="498706" y="1080810"/>
        <a:ext cx="4537696" cy="840139"/>
      </dsp:txXfrm>
    </dsp:sp>
    <dsp:sp modelId="{21982CA9-BFC0-434B-8CFC-A0F8CD2C7F11}">
      <dsp:nvSpPr>
        <dsp:cNvPr id="0" name=""/>
        <dsp:cNvSpPr/>
      </dsp:nvSpPr>
      <dsp:spPr>
        <a:xfrm>
          <a:off x="938084" y="2109345"/>
          <a:ext cx="5642611" cy="8924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Provided operational insights for inventory balancing and replenishment.</a:t>
          </a:r>
          <a:endParaRPr lang="en-US" sz="1700" kern="1200"/>
        </a:p>
      </dsp:txBody>
      <dsp:txXfrm>
        <a:off x="964222" y="2135483"/>
        <a:ext cx="4544749" cy="840139"/>
      </dsp:txXfrm>
    </dsp:sp>
    <dsp:sp modelId="{55229EC3-3986-4E58-8C72-7EA5C865A553}">
      <dsp:nvSpPr>
        <dsp:cNvPr id="0" name=""/>
        <dsp:cNvSpPr/>
      </dsp:nvSpPr>
      <dsp:spPr>
        <a:xfrm>
          <a:off x="1410652" y="3164018"/>
          <a:ext cx="5642611" cy="8924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Supported proactive planning through forecast error analysis.</a:t>
          </a:r>
          <a:endParaRPr lang="en-US" sz="1700" kern="1200"/>
        </a:p>
      </dsp:txBody>
      <dsp:txXfrm>
        <a:off x="1436790" y="3190156"/>
        <a:ext cx="4537696" cy="840139"/>
      </dsp:txXfrm>
    </dsp:sp>
    <dsp:sp modelId="{C3AF5CEA-B503-4914-B021-6F5A364E1C1E}">
      <dsp:nvSpPr>
        <dsp:cNvPr id="0" name=""/>
        <dsp:cNvSpPr/>
      </dsp:nvSpPr>
      <dsp:spPr>
        <a:xfrm>
          <a:off x="5062541" y="683509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193057" y="683509"/>
        <a:ext cx="319038" cy="436503"/>
      </dsp:txXfrm>
    </dsp:sp>
    <dsp:sp modelId="{B826C993-78BB-4E77-8B80-D305629C75AD}">
      <dsp:nvSpPr>
        <dsp:cNvPr id="0" name=""/>
        <dsp:cNvSpPr/>
      </dsp:nvSpPr>
      <dsp:spPr>
        <a:xfrm>
          <a:off x="5535109" y="1738181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665625" y="1738181"/>
        <a:ext cx="319038" cy="436503"/>
      </dsp:txXfrm>
    </dsp:sp>
    <dsp:sp modelId="{CAC43029-1330-4AE2-9542-026EBEC3BC57}">
      <dsp:nvSpPr>
        <dsp:cNvPr id="0" name=""/>
        <dsp:cNvSpPr/>
      </dsp:nvSpPr>
      <dsp:spPr>
        <a:xfrm>
          <a:off x="6000625" y="2792854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131141" y="2792854"/>
        <a:ext cx="319038" cy="4365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2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Third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Fourth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Fifth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1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 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2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3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CDD43748-F84E-454E-A2E9-903612E86450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1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229800" y="430200"/>
            <a:ext cx="1313280" cy="58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2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89600" y="773280"/>
            <a:ext cx="5567400" cy="548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Third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Fourth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Fifth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4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 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5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6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AC147FA7-57D0-4D55-BE0D-2DFA852E3F1C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1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2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Third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Fourth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Fifth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7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 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8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9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F6034586-7F8E-46E0-8C0A-D3FD93491BDB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1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66520" y="2861640"/>
            <a:ext cx="6619680" cy="191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0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66520" y="4777560"/>
            <a:ext cx="6619680" cy="85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000" b="0" u="none" strike="noStrike" cap="all">
              <a:solidFill>
                <a:schemeClr val="dk2">
                  <a:lumMod val="40000"/>
                  <a:lumOff val="60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0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 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1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12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08F2732D-B276-49FF-9254-90150DFAF033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1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2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27640" y="2060640"/>
            <a:ext cx="329652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241880" y="2055960"/>
            <a:ext cx="3296520" cy="41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13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14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15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7C8C3C8A-AE65-4E25-B940-D14BAD75EF54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2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827640" y="1905120"/>
            <a:ext cx="329652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827640" y="2514600"/>
            <a:ext cx="3296520" cy="374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241880" y="1905120"/>
            <a:ext cx="329652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241880" y="2514600"/>
            <a:ext cx="3296520" cy="374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dt" idx="16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7"/>
          <p:cNvSpPr>
            <a:spLocks noGrp="1"/>
          </p:cNvSpPr>
          <p:nvPr>
            <p:ph type="ftr" idx="17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8"/>
          <p:cNvSpPr>
            <a:spLocks noGrp="1"/>
          </p:cNvSpPr>
          <p:nvPr>
            <p:ph type="sldNum" idx="18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BBEB7ECB-5D54-424A-AE26-9E26B845F744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2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19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20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1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F0F445E8-DC24-421A-A127-FB38C507C327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the outline text format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 Outline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Third Outline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Fourth Outline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Fifth Outline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Sixth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Seventh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dt" idx="22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23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4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66A74F1A-AC55-4D94-BEE8-36A5E205CC6F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2549880" cy="144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24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3589560" y="1447920"/>
            <a:ext cx="3896640" cy="457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Third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Fourth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Fifth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866520" y="3129120"/>
            <a:ext cx="2549880" cy="289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dt" idx="25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 idx="26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sldNum" idx="27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256172A4-5C03-4A6A-BDAB-56542F696075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65800" y="1854360"/>
            <a:ext cx="3819240" cy="157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5213520" y="1143000"/>
            <a:ext cx="2399400" cy="457056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icon to add picture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866520" y="3657600"/>
            <a:ext cx="3813120" cy="137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dt" idx="28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ftr" idx="29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sldNum" idx="30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8F2B840B-E8A8-405C-A088-FE40474A37CF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6619680" cy="332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72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dt" idx="31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ftr" idx="32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sldNum" idx="33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486004CE-4F29-4786-9DE9-E37D482EF382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the outline text format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 Outline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Third Outline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Fourth Outline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Fifth Outline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Sixth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Seventh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noramic 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66520" y="4800600"/>
            <a:ext cx="661968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24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866520" y="685800"/>
            <a:ext cx="6619680" cy="363924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icon to add picture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866520" y="5367240"/>
            <a:ext cx="6619680" cy="49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dt" idx="34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ftr" idx="35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sldNum" idx="36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2363854A-2721-4483-9566-2DB81CB218B9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6619680" cy="197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8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866520" y="3657600"/>
            <a:ext cx="6619680" cy="236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dt" idx="37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ftr" idx="38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39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C71779E3-1121-4F73-B6E0-BEBB3868F584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181520" y="1447920"/>
            <a:ext cx="5999760" cy="232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8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1448280" y="3771000"/>
            <a:ext cx="5459760" cy="34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 cap="sm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 cap="sm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866520" y="4350600"/>
            <a:ext cx="6619680" cy="167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dt" idx="40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ftr" idx="41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6"/>
          <p:cNvSpPr>
            <a:spLocks noGrp="1"/>
          </p:cNvSpPr>
          <p:nvPr>
            <p:ph type="sldNum" idx="42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38CBECEE-1AE6-4134-BE3C-209B38E262D4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TextBox 11"/>
          <p:cNvSpPr/>
          <p:nvPr/>
        </p:nvSpPr>
        <p:spPr>
          <a:xfrm>
            <a:off x="673920" y="971280"/>
            <a:ext cx="600120" cy="19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2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CA" sz="1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6999840" y="2613960"/>
            <a:ext cx="600120" cy="19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2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CA" sz="1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66520" y="3124080"/>
            <a:ext cx="6619680" cy="165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0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866520" y="4777560"/>
            <a:ext cx="6619680" cy="85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000" b="0" u="none" strike="noStrike">
              <a:solidFill>
                <a:schemeClr val="dk2">
                  <a:lumMod val="40000"/>
                  <a:lumOff val="60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dt" idx="43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ftr" idx="44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 type="sldNum" idx="45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D7C4C59B-1C5A-4893-B677-BA4061859FDF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2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474840" y="1981080"/>
            <a:ext cx="220932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489600" y="2666880"/>
            <a:ext cx="2194560" cy="358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2913480" y="1981080"/>
            <a:ext cx="220140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 type="body"/>
          </p:nvPr>
        </p:nvSpPr>
        <p:spPr>
          <a:xfrm>
            <a:off x="2905560" y="2666880"/>
            <a:ext cx="2209320" cy="358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86" name="PlaceHolder 6"/>
          <p:cNvSpPr>
            <a:spLocks noGrp="1"/>
          </p:cNvSpPr>
          <p:nvPr>
            <p:ph type="body"/>
          </p:nvPr>
        </p:nvSpPr>
        <p:spPr>
          <a:xfrm>
            <a:off x="5344920" y="1981080"/>
            <a:ext cx="219816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87" name="PlaceHolder 7"/>
          <p:cNvSpPr>
            <a:spLocks noGrp="1"/>
          </p:cNvSpPr>
          <p:nvPr>
            <p:ph type="body"/>
          </p:nvPr>
        </p:nvSpPr>
        <p:spPr>
          <a:xfrm>
            <a:off x="5344920" y="2666880"/>
            <a:ext cx="2198160" cy="358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cxnSp>
        <p:nvCxnSpPr>
          <p:cNvPr id="188" name="Straight Connector 16"/>
          <p:cNvCxnSpPr/>
          <p:nvPr/>
        </p:nvCxnSpPr>
        <p:spPr>
          <a:xfrm>
            <a:off x="2795040" y="2133360"/>
            <a:ext cx="1440" cy="3963960"/>
          </a:xfrm>
          <a:prstGeom prst="straightConnector1">
            <a:avLst/>
          </a:prstGeom>
          <a:ln cap="rnd" w="12700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cxnSp>
        <p:nvCxnSpPr>
          <p:cNvPr id="189" name="Straight Connector 17"/>
          <p:cNvCxnSpPr/>
          <p:nvPr/>
        </p:nvCxnSpPr>
        <p:spPr>
          <a:xfrm>
            <a:off x="5222880" y="2133360"/>
            <a:ext cx="1440" cy="3968280"/>
          </a:xfrm>
          <a:prstGeom prst="straightConnector1">
            <a:avLst/>
          </a:prstGeom>
          <a:ln cap="rnd" w="12700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sp>
        <p:nvSpPr>
          <p:cNvPr id="190" name="PlaceHolder 8"/>
          <p:cNvSpPr>
            <a:spLocks noGrp="1"/>
          </p:cNvSpPr>
          <p:nvPr>
            <p:ph type="dt" idx="46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9"/>
          <p:cNvSpPr>
            <a:spLocks noGrp="1"/>
          </p:cNvSpPr>
          <p:nvPr>
            <p:ph type="ftr" idx="47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10"/>
          <p:cNvSpPr>
            <a:spLocks noGrp="1"/>
          </p:cNvSpPr>
          <p:nvPr>
            <p:ph type="sldNum" idx="48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44963CCC-372E-4402-BEC6-6229B7F52F60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Picture Colum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Oval 2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Oval 22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50B9C1">
                  <a:alpha val="14000"/>
                </a:srgbClr>
              </a:gs>
              <a:gs pos="36000">
                <a:srgbClr val="50B9C1">
                  <a:alpha val="7000"/>
                </a:srgbClr>
              </a:gs>
              <a:gs pos="73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Oval 23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50B9C1">
                  <a:alpha val="9000"/>
                </a:srgbClr>
              </a:gs>
              <a:gs pos="36000">
                <a:srgbClr val="50B9C1">
                  <a:alpha val="5000"/>
                </a:srgbClr>
              </a:gs>
              <a:gs pos="66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Oval 19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50B9C1">
                  <a:alpha val="11000"/>
                </a:srgbClr>
              </a:gs>
              <a:gs pos="36000">
                <a:srgbClr val="50B9C1">
                  <a:alpha val="10000"/>
                </a:srgbClr>
              </a:gs>
              <a:gs pos="75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Oval 20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50B9C1">
                  <a:alpha val="8000"/>
                </a:srgbClr>
              </a:gs>
              <a:gs pos="36000">
                <a:srgbClr val="50B9C1">
                  <a:alpha val="8000"/>
                </a:srgbClr>
              </a:gs>
              <a:gs pos="72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18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Click to edit Master title style</a:t>
            </a:r>
            <a:endParaRPr lang="en-US" sz="42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489600" y="4250880"/>
            <a:ext cx="220428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489600" y="2209680"/>
            <a:ext cx="2204280" cy="152244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icon to add picture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body"/>
          </p:nvPr>
        </p:nvSpPr>
        <p:spPr>
          <a:xfrm>
            <a:off x="489600" y="4827240"/>
            <a:ext cx="2204280" cy="65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body"/>
          </p:nvPr>
        </p:nvSpPr>
        <p:spPr>
          <a:xfrm>
            <a:off x="2917800" y="4250880"/>
            <a:ext cx="219708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 type="body"/>
          </p:nvPr>
        </p:nvSpPr>
        <p:spPr>
          <a:xfrm>
            <a:off x="2917800" y="2209680"/>
            <a:ext cx="2197080" cy="152244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icon to add picture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 type="body"/>
          </p:nvPr>
        </p:nvSpPr>
        <p:spPr>
          <a:xfrm>
            <a:off x="2916720" y="4827240"/>
            <a:ext cx="2199960" cy="65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6" name="PlaceHolder 8"/>
          <p:cNvSpPr>
            <a:spLocks noGrp="1"/>
          </p:cNvSpPr>
          <p:nvPr>
            <p:ph type="body"/>
          </p:nvPr>
        </p:nvSpPr>
        <p:spPr>
          <a:xfrm>
            <a:off x="5344920" y="4250880"/>
            <a:ext cx="219816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7" name="PlaceHolder 9"/>
          <p:cNvSpPr>
            <a:spLocks noGrp="1"/>
          </p:cNvSpPr>
          <p:nvPr>
            <p:ph type="body"/>
          </p:nvPr>
        </p:nvSpPr>
        <p:spPr>
          <a:xfrm>
            <a:off x="5344920" y="2209680"/>
            <a:ext cx="2198160" cy="152244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icon to add picture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8" name="PlaceHolder 10"/>
          <p:cNvSpPr>
            <a:spLocks noGrp="1"/>
          </p:cNvSpPr>
          <p:nvPr>
            <p:ph type="body"/>
          </p:nvPr>
        </p:nvSpPr>
        <p:spPr>
          <a:xfrm>
            <a:off x="5344920" y="4827240"/>
            <a:ext cx="2201040" cy="65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Click to edit Master text styles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cxnSp>
        <p:nvCxnSpPr>
          <p:cNvPr id="209" name="Straight Connector 18"/>
          <p:cNvCxnSpPr/>
          <p:nvPr/>
        </p:nvCxnSpPr>
        <p:spPr>
          <a:xfrm>
            <a:off x="2795040" y="2133360"/>
            <a:ext cx="1440" cy="3963960"/>
          </a:xfrm>
          <a:prstGeom prst="straightConnector1">
            <a:avLst/>
          </a:prstGeom>
          <a:ln cap="rnd" w="12700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cxnSp>
        <p:nvCxnSpPr>
          <p:cNvPr id="210" name="Straight Connector 19"/>
          <p:cNvCxnSpPr/>
          <p:nvPr/>
        </p:nvCxnSpPr>
        <p:spPr>
          <a:xfrm>
            <a:off x="5222880" y="2133360"/>
            <a:ext cx="1440" cy="3968280"/>
          </a:xfrm>
          <a:prstGeom prst="straightConnector1">
            <a:avLst/>
          </a:prstGeom>
          <a:ln cap="rnd" w="12700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sp>
        <p:nvSpPr>
          <p:cNvPr id="211" name="PlaceHolder 11"/>
          <p:cNvSpPr>
            <a:spLocks noGrp="1"/>
          </p:cNvSpPr>
          <p:nvPr>
            <p:ph type="dt" idx="49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n-CA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12"/>
          <p:cNvSpPr>
            <a:spLocks noGrp="1"/>
          </p:cNvSpPr>
          <p:nvPr>
            <p:ph type="ftr" idx="50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13"/>
          <p:cNvSpPr>
            <a:spLocks noGrp="1"/>
          </p:cNvSpPr>
          <p:nvPr>
            <p:ph type="sldNum" idx="51"/>
          </p:nvPr>
        </p:nvSpPr>
        <p:spPr>
          <a:xfrm>
            <a:off x="7766280" y="295560"/>
            <a:ext cx="62748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3DA5AC17-037C-4CBF-A124-7FC36D76A40A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n-CA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7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Relationship Id="rId7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322160" y="1243440"/>
            <a:ext cx="4201920" cy="206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p>
            <a:pPr indent="0" algn="ctr" defTabSz="4572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Cement Demand Forecasting &amp; Inventory Optimization</a:t>
            </a:r>
            <a:endParaRPr lang="en-US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4162320" y="3630240"/>
            <a:ext cx="4788000" cy="265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 cap="all">
                <a:solidFill>
                  <a:schemeClr val="lt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Random Forest Forecasting Analysis for Site-Level Operational Insights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PRESENTED 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BY 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FELIX ONWUDIWE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MAY 2026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Freeform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901320" y="0"/>
            <a:ext cx="418320" cy="3708360"/>
          </a:xfrm>
          <a:custGeom>
            <a:avLst/>
            <a:gdLst>
              <a:gd name="textAreaLeft" fmla="*/ -720 w 418320"/>
              <a:gd name="textAreaRight" fmla="*/ 419040 w 418320"/>
              <a:gd name="textAreaTop" fmla="*/ 0 h 3708360"/>
              <a:gd name="textAreaBottom" fmla="*/ 3709800 h 3708360"/>
              <a:gd name="GluePoint1X" fmla="*/ 0 w 559472"/>
              <a:gd name="GluePoint1Y" fmla="*/ 0 h 3709642"/>
              <a:gd name="GluePoint2X" fmla="*/ 473952 w 559472"/>
              <a:gd name="GluePoint2Y" fmla="*/ 0 h 3709642"/>
              <a:gd name="GluePoint3X" fmla="*/ 485840 w 559472"/>
              <a:gd name="GluePoint3Y" fmla="*/ 161194 h 3709642"/>
              <a:gd name="GluePoint4X" fmla="*/ 523949 w 559472"/>
              <a:gd name="GluePoint4Y" fmla="*/ 3672197 h 3709642"/>
              <a:gd name="GluePoint5X" fmla="*/ 454748 w 559472"/>
              <a:gd name="GluePoint5Y" fmla="*/ 3709642 h 3709642"/>
              <a:gd name="GluePoint6X" fmla="*/ 448224 w 559472"/>
              <a:gd name="GluePoint6Y" fmla="*/ 3510471 h 3709642"/>
              <a:gd name="GluePoint7X" fmla="*/ 443564 w 559472"/>
              <a:gd name="GluePoint7Y" fmla="*/ 3408563 h 3709642"/>
              <a:gd name="GluePoint8X" fmla="*/ 438902 w 559472"/>
              <a:gd name="GluePoint8Y" fmla="*/ 3304407 h 3709642"/>
              <a:gd name="GluePoint9X" fmla="*/ 433941 w 559472"/>
              <a:gd name="GluePoint9Y" fmla="*/ 3198777 h 3709642"/>
              <a:gd name="GluePoint10X" fmla="*/ 427584 w 559472"/>
              <a:gd name="GluePoint10Y" fmla="*/ 3092510 h 3709642"/>
              <a:gd name="GluePoint11X" fmla="*/ 420988 w 559472"/>
              <a:gd name="GluePoint11Y" fmla="*/ 2984390 h 3709642"/>
              <a:gd name="GluePoint12X" fmla="*/ 414330 w 559472"/>
              <a:gd name="GluePoint12Y" fmla="*/ 2874401 h 3709642"/>
              <a:gd name="GluePoint13X" fmla="*/ 406840 w 559472"/>
              <a:gd name="GluePoint13Y" fmla="*/ 2762980 h 3709642"/>
              <a:gd name="GluePoint14X" fmla="*/ 397745 w 559472"/>
              <a:gd name="GluePoint14Y" fmla="*/ 2650566 h 3709642"/>
              <a:gd name="GluePoint15X" fmla="*/ 389154 w 559472"/>
              <a:gd name="GluePoint15Y" fmla="*/ 2536612 h 3709642"/>
              <a:gd name="GluePoint16X" fmla="*/ 379225 w 559472"/>
              <a:gd name="GluePoint16Y" fmla="*/ 2421642 h 3709642"/>
              <a:gd name="GluePoint17X" fmla="*/ 368316 w 559472"/>
              <a:gd name="GluePoint17Y" fmla="*/ 2305627 h 3709642"/>
              <a:gd name="GluePoint18X" fmla="*/ 357466 w 559472"/>
              <a:gd name="GluePoint18Y" fmla="*/ 2189233 h 3709642"/>
              <a:gd name="GluePoint19X" fmla="*/ 344982 w 559472"/>
              <a:gd name="GluePoint19Y" fmla="*/ 2071473 h 3709642"/>
              <a:gd name="GluePoint20X" fmla="*/ 332466 w 559472"/>
              <a:gd name="GluePoint20Y" fmla="*/ 1952216 h 3709642"/>
              <a:gd name="GluePoint21X" fmla="*/ 319121 w 559472"/>
              <a:gd name="GluePoint21Y" fmla="*/ 1833776 h 3709642"/>
              <a:gd name="GluePoint22X" fmla="*/ 304408 w 559472"/>
              <a:gd name="GluePoint22Y" fmla="*/ 1713948 h 3709642"/>
              <a:gd name="GluePoint23X" fmla="*/ 288685 w 559472"/>
              <a:gd name="GluePoint23Y" fmla="*/ 1592703 h 3709642"/>
              <a:gd name="GluePoint24X" fmla="*/ 273050 w 559472"/>
              <a:gd name="GluePoint24Y" fmla="*/ 1471451 h 3709642"/>
              <a:gd name="GluePoint25X" fmla="*/ 255813 w 559472"/>
              <a:gd name="GluePoint25Y" fmla="*/ 1350328 h 3709642"/>
              <a:gd name="GluePoint26X" fmla="*/ 237060 w 559472"/>
              <a:gd name="GluePoint26Y" fmla="*/ 1227080 h 3709642"/>
              <a:gd name="GluePoint27X" fmla="*/ 218488 w 559472"/>
              <a:gd name="GluePoint27Y" fmla="*/ 1106065 h 3709642"/>
              <a:gd name="GluePoint28X" fmla="*/ 198221 w 559472"/>
              <a:gd name="GluePoint28Y" fmla="*/ 982940 h 3709642"/>
              <a:gd name="GluePoint29X" fmla="*/ 177152 w 559472"/>
              <a:gd name="GluePoint29Y" fmla="*/ 858755 h 3709642"/>
              <a:gd name="GluePoint30X" fmla="*/ 155551 w 559472"/>
              <a:gd name="GluePoint30Y" fmla="*/ 736861 h 3709642"/>
              <a:gd name="GluePoint31X" fmla="*/ 131782 w 559472"/>
              <a:gd name="GluePoint31Y" fmla="*/ 613645 h 3709642"/>
              <a:gd name="GluePoint32X" fmla="*/ 107123 w 559472"/>
              <a:gd name="GluePoint32Y" fmla="*/ 490500 h 3709642"/>
              <a:gd name="GluePoint33X" fmla="*/ 82552 w 559472"/>
              <a:gd name="GluePoint33Y" fmla="*/ 367348 h 3709642"/>
              <a:gd name="GluePoint34X" fmla="*/ 55608 w 559472"/>
              <a:gd name="GluePoint34Y" fmla="*/ 244762 h 3709642"/>
              <a:gd name="GluePoint35X" fmla="*/ 28130 w 559472"/>
              <a:gd name="GluePoint35Y" fmla="*/ 122220 h 3709642"/>
              <a:gd name="GluePoint36X" fmla="*/ 0 w 559472"/>
              <a:gd name="GluePoint36Y" fmla="*/ 0 h 370964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</a:cxnLst>
            <a:rect l="textAreaLeft" t="textAreaTop" r="textAreaRight" b="textAreaBottom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 useBgFill="1">
        <p:nvSpPr>
          <p:cNvPr id="218" name="Freeform: 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880" cy="6856560"/>
          </a:xfrm>
          <a:custGeom>
            <a:avLst/>
            <a:gdLst>
              <a:gd name="textAreaLeft" fmla="*/ 0 w 4160880"/>
              <a:gd name="textAreaRight" fmla="*/ 4162320 w 4160880"/>
              <a:gd name="textAreaTop" fmla="*/ 0 h 6856560"/>
              <a:gd name="textAreaBottom" fmla="*/ 6858000 h 6856560"/>
              <a:gd name="GluePoint1X" fmla="*/ 4205108 w 5549823"/>
              <a:gd name="GluePoint1Y" fmla="*/ 0 h 6858000"/>
              <a:gd name="GluePoint2X" fmla="*/ 5548646 w 5549823"/>
              <a:gd name="GluePoint2Y" fmla="*/ 0 h 6858000"/>
              <a:gd name="GluePoint3X" fmla="*/ 5523601 w 5549823"/>
              <a:gd name="GluePoint3Y" fmla="*/ 155676 h 6858000"/>
              <a:gd name="GluePoint4X" fmla="*/ 5499732 w 5549823"/>
              <a:gd name="GluePoint4Y" fmla="*/ 310667 h 6858000"/>
              <a:gd name="GluePoint5X" fmla="*/ 5476368 w 5549823"/>
              <a:gd name="GluePoint5Y" fmla="*/ 466344 h 6858000"/>
              <a:gd name="GluePoint6X" fmla="*/ 5456365 w 5549823"/>
              <a:gd name="GluePoint6Y" fmla="*/ 622706 h 6858000"/>
              <a:gd name="GluePoint7X" fmla="*/ 5436194 w 5549823"/>
              <a:gd name="GluePoint7Y" fmla="*/ 778383 h 6858000"/>
              <a:gd name="GluePoint8X" fmla="*/ 5417368 w 5549823"/>
              <a:gd name="GluePoint8Y" fmla="*/ 934745 h 6858000"/>
              <a:gd name="GluePoint9X" fmla="*/ 5401232 w 5549823"/>
              <a:gd name="GluePoint9Y" fmla="*/ 1089050 h 6858000"/>
              <a:gd name="GluePoint10X" fmla="*/ 5385936 w 5549823"/>
              <a:gd name="GluePoint10Y" fmla="*/ 1245413 h 6858000"/>
              <a:gd name="GluePoint11X" fmla="*/ 5371984 w 5549823"/>
              <a:gd name="GluePoint11Y" fmla="*/ 1401089 h 6858000"/>
              <a:gd name="GluePoint12X" fmla="*/ 5359882 w 5549823"/>
              <a:gd name="GluePoint12Y" fmla="*/ 1554023 h 6858000"/>
              <a:gd name="GluePoint13X" fmla="*/ 5347779 w 5549823"/>
              <a:gd name="GluePoint13Y" fmla="*/ 1709013 h 6858000"/>
              <a:gd name="GluePoint14X" fmla="*/ 5337694 w 5549823"/>
              <a:gd name="GluePoint14Y" fmla="*/ 1861947 h 6858000"/>
              <a:gd name="GluePoint15X" fmla="*/ 5329794 w 5549823"/>
              <a:gd name="GluePoint15Y" fmla="*/ 2014880 h 6858000"/>
              <a:gd name="GluePoint16X" fmla="*/ 5321557 w 5549823"/>
              <a:gd name="GluePoint16Y" fmla="*/ 2167128 h 6858000"/>
              <a:gd name="GluePoint17X" fmla="*/ 5314666 w 5549823"/>
              <a:gd name="GluePoint17Y" fmla="*/ 2318004 h 6858000"/>
              <a:gd name="GluePoint18X" fmla="*/ 5309791 w 5549823"/>
              <a:gd name="GluePoint18Y" fmla="*/ 2467508 h 6858000"/>
              <a:gd name="GluePoint19X" fmla="*/ 5305589 w 5549823"/>
              <a:gd name="GluePoint19Y" fmla="*/ 2617013 h 6858000"/>
              <a:gd name="GluePoint20X" fmla="*/ 5301555 w 5549823"/>
              <a:gd name="GluePoint20Y" fmla="*/ 2765145 h 6858000"/>
              <a:gd name="GluePoint21X" fmla="*/ 5299706 w 5549823"/>
              <a:gd name="GluePoint21Y" fmla="*/ 2911221 h 6858000"/>
              <a:gd name="GluePoint22X" fmla="*/ 5297689 w 5549823"/>
              <a:gd name="GluePoint22Y" fmla="*/ 3057296 h 6858000"/>
              <a:gd name="GluePoint23X" fmla="*/ 5296680 w 5549823"/>
              <a:gd name="GluePoint23Y" fmla="*/ 3201314 h 6858000"/>
              <a:gd name="GluePoint24X" fmla="*/ 5297689 w 5549823"/>
              <a:gd name="GluePoint24Y" fmla="*/ 3343960 h 6858000"/>
              <a:gd name="GluePoint25X" fmla="*/ 5297689 w 5549823"/>
              <a:gd name="GluePoint25Y" fmla="*/ 3485235 h 6858000"/>
              <a:gd name="GluePoint26X" fmla="*/ 5299706 w 5549823"/>
              <a:gd name="GluePoint26Y" fmla="*/ 3625138 h 6858000"/>
              <a:gd name="GluePoint27X" fmla="*/ 5302731 w 5549823"/>
              <a:gd name="GluePoint27Y" fmla="*/ 3762298 h 6858000"/>
              <a:gd name="GluePoint28X" fmla="*/ 5305589 w 5549823"/>
              <a:gd name="GluePoint28Y" fmla="*/ 3898087 h 6858000"/>
              <a:gd name="GluePoint29X" fmla="*/ 5308783 w 5549823"/>
              <a:gd name="GluePoint29Y" fmla="*/ 4031132 h 6858000"/>
              <a:gd name="GluePoint30X" fmla="*/ 5313657 w 5549823"/>
              <a:gd name="GluePoint30Y" fmla="*/ 4163491 h 6858000"/>
              <a:gd name="GluePoint31X" fmla="*/ 5318868 w 5549823"/>
              <a:gd name="GluePoint31Y" fmla="*/ 4293793 h 6858000"/>
              <a:gd name="GluePoint32X" fmla="*/ 5323574 w 5549823"/>
              <a:gd name="GluePoint32Y" fmla="*/ 4421352 h 6858000"/>
              <a:gd name="GluePoint33X" fmla="*/ 5336854 w 5549823"/>
              <a:gd name="GluePoint33Y" fmla="*/ 4670298 h 6858000"/>
              <a:gd name="GluePoint34X" fmla="*/ 5350973 w 5549823"/>
              <a:gd name="GluePoint34Y" fmla="*/ 4908956 h 6858000"/>
              <a:gd name="GluePoint35X" fmla="*/ 5365765 w 5549823"/>
              <a:gd name="GluePoint35Y" fmla="*/ 5138013 h 6858000"/>
              <a:gd name="GluePoint36X" fmla="*/ 5382070 w 5549823"/>
              <a:gd name="GluePoint36Y" fmla="*/ 5354726 h 6858000"/>
              <a:gd name="GluePoint37X" fmla="*/ 5399047 w 5549823"/>
              <a:gd name="GluePoint37Y" fmla="*/ 5561838 h 6858000"/>
              <a:gd name="GluePoint38X" fmla="*/ 5417368 w 5549823"/>
              <a:gd name="GluePoint38Y" fmla="*/ 5753862 h 6858000"/>
              <a:gd name="GluePoint39X" fmla="*/ 5435354 w 5549823"/>
              <a:gd name="GluePoint39Y" fmla="*/ 5934227 h 6858000"/>
              <a:gd name="GluePoint40X" fmla="*/ 5453339 w 5549823"/>
              <a:gd name="GluePoint40Y" fmla="*/ 6100191 h 6858000"/>
              <a:gd name="GluePoint41X" fmla="*/ 5470316 w 5549823"/>
              <a:gd name="GluePoint41Y" fmla="*/ 6252438 h 6858000"/>
              <a:gd name="GluePoint42X" fmla="*/ 5486453 w 5549823"/>
              <a:gd name="GluePoint42Y" fmla="*/ 6387541 h 6858000"/>
              <a:gd name="GluePoint43X" fmla="*/ 5501749 w 5549823"/>
              <a:gd name="GluePoint43Y" fmla="*/ 6509613 h 6858000"/>
              <a:gd name="GluePoint44X" fmla="*/ 5514524 w 5549823"/>
              <a:gd name="GluePoint44Y" fmla="*/ 6612483 h 6858000"/>
              <a:gd name="GluePoint45X" fmla="*/ 5526626 w 5549823"/>
              <a:gd name="GluePoint45Y" fmla="*/ 6698894 h 6858000"/>
              <a:gd name="GluePoint46X" fmla="*/ 5543940 w 5549823"/>
              <a:gd name="GluePoint46Y" fmla="*/ 6817538 h 6858000"/>
              <a:gd name="GluePoint47X" fmla="*/ 5549823 w 5549823"/>
              <a:gd name="GluePoint47Y" fmla="*/ 6858000 h 6858000"/>
              <a:gd name="GluePoint48X" fmla="*/ 4644470 w 5549823"/>
              <a:gd name="GluePoint48Y" fmla="*/ 6858000 h 6858000"/>
              <a:gd name="GluePoint49X" fmla="*/ 4644470 w 5549823"/>
              <a:gd name="GluePoint49Y" fmla="*/ 6858000 h 6858000"/>
              <a:gd name="GluePoint50X" fmla="*/ 0 w 5549823"/>
              <a:gd name="GluePoint50Y" fmla="*/ 6858000 h 6858000"/>
              <a:gd name="GluePoint51X" fmla="*/ 0 w 5549823"/>
              <a:gd name="GluePoint51Y" fmla="*/ 0 h 6858000"/>
              <a:gd name="GluePoint52X" fmla="*/ 4205108 w 5549823"/>
              <a:gd name="GluePoint52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</a:cxnLst>
            <a:rect l="textAreaLeft" t="textAreaTop" r="textAreaRight" b="textAreaBottom"/>
            <a:pathLst>
              <a:path w="5549823" h="6858000">
                <a:moveTo>
                  <a:pt x="4205108" y="0"/>
                </a:moveTo>
                <a:lnTo>
                  <a:pt x="5548646" y="0"/>
                </a:lnTo>
                <a:lnTo>
                  <a:pt x="5523601" y="155676"/>
                </a:lnTo>
                <a:lnTo>
                  <a:pt x="5499732" y="310667"/>
                </a:lnTo>
                <a:lnTo>
                  <a:pt x="5476368" y="466344"/>
                </a:lnTo>
                <a:lnTo>
                  <a:pt x="5456365" y="622706"/>
                </a:lnTo>
                <a:lnTo>
                  <a:pt x="5436194" y="778383"/>
                </a:lnTo>
                <a:lnTo>
                  <a:pt x="5417368" y="934745"/>
                </a:lnTo>
                <a:lnTo>
                  <a:pt x="5401232" y="1089050"/>
                </a:lnTo>
                <a:lnTo>
                  <a:pt x="5385936" y="1245413"/>
                </a:lnTo>
                <a:lnTo>
                  <a:pt x="5371984" y="1401089"/>
                </a:lnTo>
                <a:lnTo>
                  <a:pt x="5359882" y="1554023"/>
                </a:lnTo>
                <a:lnTo>
                  <a:pt x="5347779" y="1709013"/>
                </a:lnTo>
                <a:lnTo>
                  <a:pt x="5337694" y="1861947"/>
                </a:lnTo>
                <a:lnTo>
                  <a:pt x="5329794" y="2014880"/>
                </a:lnTo>
                <a:lnTo>
                  <a:pt x="5321557" y="2167128"/>
                </a:lnTo>
                <a:lnTo>
                  <a:pt x="5314666" y="2318004"/>
                </a:lnTo>
                <a:lnTo>
                  <a:pt x="5309791" y="2467508"/>
                </a:lnTo>
                <a:lnTo>
                  <a:pt x="5305589" y="2617013"/>
                </a:lnTo>
                <a:lnTo>
                  <a:pt x="5301555" y="2765145"/>
                </a:lnTo>
                <a:lnTo>
                  <a:pt x="5299706" y="2911221"/>
                </a:lnTo>
                <a:lnTo>
                  <a:pt x="5297689" y="3057296"/>
                </a:lnTo>
                <a:lnTo>
                  <a:pt x="5296680" y="3201314"/>
                </a:lnTo>
                <a:lnTo>
                  <a:pt x="5297689" y="3343960"/>
                </a:lnTo>
                <a:lnTo>
                  <a:pt x="5297689" y="3485235"/>
                </a:lnTo>
                <a:lnTo>
                  <a:pt x="5299706" y="3625138"/>
                </a:lnTo>
                <a:lnTo>
                  <a:pt x="5302731" y="3762298"/>
                </a:lnTo>
                <a:lnTo>
                  <a:pt x="5305589" y="3898087"/>
                </a:lnTo>
                <a:lnTo>
                  <a:pt x="5308783" y="4031132"/>
                </a:lnTo>
                <a:lnTo>
                  <a:pt x="5313657" y="4163491"/>
                </a:lnTo>
                <a:lnTo>
                  <a:pt x="5318868" y="4293793"/>
                </a:lnTo>
                <a:lnTo>
                  <a:pt x="5323574" y="4421352"/>
                </a:lnTo>
                <a:lnTo>
                  <a:pt x="5336854" y="4670298"/>
                </a:lnTo>
                <a:lnTo>
                  <a:pt x="5350973" y="4908956"/>
                </a:lnTo>
                <a:lnTo>
                  <a:pt x="5365765" y="5138013"/>
                </a:lnTo>
                <a:lnTo>
                  <a:pt x="5382070" y="5354726"/>
                </a:lnTo>
                <a:lnTo>
                  <a:pt x="5399047" y="5561838"/>
                </a:lnTo>
                <a:lnTo>
                  <a:pt x="5417368" y="5753862"/>
                </a:lnTo>
                <a:lnTo>
                  <a:pt x="5435354" y="5934227"/>
                </a:lnTo>
                <a:lnTo>
                  <a:pt x="5453339" y="6100191"/>
                </a:lnTo>
                <a:lnTo>
                  <a:pt x="5470316" y="6252438"/>
                </a:lnTo>
                <a:lnTo>
                  <a:pt x="5486453" y="6387541"/>
                </a:lnTo>
                <a:lnTo>
                  <a:pt x="5501749" y="6509613"/>
                </a:lnTo>
                <a:lnTo>
                  <a:pt x="5514524" y="6612483"/>
                </a:lnTo>
                <a:lnTo>
                  <a:pt x="5526626" y="6698894"/>
                </a:lnTo>
                <a:lnTo>
                  <a:pt x="5543940" y="6817538"/>
                </a:lnTo>
                <a:lnTo>
                  <a:pt x="5549823" y="6858000"/>
                </a:lnTo>
                <a:lnTo>
                  <a:pt x="4644470" y="6858000"/>
                </a:lnTo>
                <a:lnTo>
                  <a:pt x="4644470" y="6858000"/>
                </a:lnTo>
                <a:lnTo>
                  <a:pt x="0" y="6858000"/>
                </a:lnTo>
                <a:lnTo>
                  <a:pt x="0" y="0"/>
                </a:lnTo>
                <a:lnTo>
                  <a:pt x="4205108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9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28200" y="0"/>
            <a:ext cx="513000" cy="114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220" name="Graphic 6" descr="Cement truck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82760" y="1932120"/>
            <a:ext cx="2991600" cy="299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22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40120" y="1460160"/>
            <a:ext cx="2602440" cy="824400"/>
          </a:xfrm>
          <a:custGeom>
            <a:avLst/>
            <a:gdLst>
              <a:gd name="textAreaLeft" fmla="*/ 0 w 2602440"/>
              <a:gd name="textAreaRight" fmla="*/ 2603880 w 2602440"/>
              <a:gd name="textAreaTop" fmla="*/ 0 h 824400"/>
              <a:gd name="textAreaBottom" fmla="*/ 825840 h 824400"/>
              <a:gd name="GluePoint1X" fmla="*/ 3470310 w 3472060"/>
              <a:gd name="GluePoint1Y" fmla="*/ 0 h 825932"/>
              <a:gd name="GluePoint2X" fmla="*/ 3472060 w 3472060"/>
              <a:gd name="GluePoint2Y" fmla="*/ 12850 h 825932"/>
              <a:gd name="GluePoint3X" fmla="*/ 3472060 w 3472060"/>
              <a:gd name="GluePoint3Y" fmla="*/ 480529 h 825932"/>
              <a:gd name="GluePoint4X" fmla="*/ 3363699 w 3472060"/>
              <a:gd name="GluePoint4Y" fmla="*/ 498471 h 825932"/>
              <a:gd name="GluePoint5X" fmla="*/ 42060 w 3472060"/>
              <a:gd name="GluePoint5Y" fmla="*/ 824486 h 825932"/>
              <a:gd name="GluePoint6X" fmla="*/ 0 w 3472060"/>
              <a:gd name="GluePoint6Y" fmla="*/ 758452 h 825932"/>
              <a:gd name="GluePoint7X" fmla="*/ 188014 w 3472060"/>
              <a:gd name="GluePoint7Y" fmla="*/ 735602 h 825932"/>
              <a:gd name="GluePoint8X" fmla="*/ 284087 w 3472060"/>
              <a:gd name="GluePoint8Y" fmla="*/ 722590 h 825932"/>
              <a:gd name="GluePoint9X" fmla="*/ 382288 w 3472060"/>
              <a:gd name="GluePoint9Y" fmla="*/ 709392 h 825932"/>
              <a:gd name="GluePoint10X" fmla="*/ 481858 w 3472060"/>
              <a:gd name="GluePoint10Y" fmla="*/ 695774 h 825932"/>
              <a:gd name="GluePoint11X" fmla="*/ 581897 w 3472060"/>
              <a:gd name="GluePoint11Y" fmla="*/ 680711 h 825932"/>
              <a:gd name="GluePoint12X" fmla="*/ 683670 w 3472060"/>
              <a:gd name="GluePoint12Y" fmla="*/ 665256 h 825932"/>
              <a:gd name="GluePoint13X" fmla="*/ 787206 w 3472060"/>
              <a:gd name="GluePoint13Y" fmla="*/ 649587 h 825932"/>
              <a:gd name="GluePoint14X" fmla="*/ 892019 w 3472060"/>
              <a:gd name="GluePoint14Y" fmla="*/ 632968 h 825932"/>
              <a:gd name="GluePoint15X" fmla="*/ 997620 w 3472060"/>
              <a:gd name="GluePoint15Y" fmla="*/ 614667 h 825932"/>
              <a:gd name="GluePoint16X" fmla="*/ 1104727 w 3472060"/>
              <a:gd name="GluePoint16Y" fmla="*/ 596741 h 825932"/>
              <a:gd name="GluePoint17X" fmla="*/ 1212669 w 3472060"/>
              <a:gd name="GluePoint17Y" fmla="*/ 577397 h 825932"/>
              <a:gd name="GluePoint18X" fmla="*/ 1321506 w 3472060"/>
              <a:gd name="GluePoint18Y" fmla="*/ 556988 h 825932"/>
              <a:gd name="GluePoint19X" fmla="*/ 1430709 w 3472060"/>
              <a:gd name="GluePoint19Y" fmla="*/ 536607 h 825932"/>
              <a:gd name="GluePoint20X" fmla="*/ 1541050 w 3472060"/>
              <a:gd name="GluePoint20Y" fmla="*/ 514481 h 825932"/>
              <a:gd name="GluePoint21X" fmla="*/ 1652805 w 3472060"/>
              <a:gd name="GluePoint21Y" fmla="*/ 492202 h 825932"/>
              <a:gd name="GluePoint22X" fmla="*/ 1763708 w 3472060"/>
              <a:gd name="GluePoint22Y" fmla="*/ 469161 h 825932"/>
              <a:gd name="GluePoint23X" fmla="*/ 1875795 w 3472060"/>
              <a:gd name="GluePoint23Y" fmla="*/ 444641 h 825932"/>
              <a:gd name="GluePoint24X" fmla="*/ 1989128 w 3472060"/>
              <a:gd name="GluePoint24Y" fmla="*/ 418995 h 825932"/>
              <a:gd name="GluePoint25X" fmla="*/ 2102476 w 3472060"/>
              <a:gd name="GluePoint25Y" fmla="*/ 393438 h 825932"/>
              <a:gd name="GluePoint26X" fmla="*/ 2215549 w 3472060"/>
              <a:gd name="GluePoint26Y" fmla="*/ 366291 h 825932"/>
              <a:gd name="GluePoint27X" fmla="*/ 2330490 w 3472060"/>
              <a:gd name="GluePoint27Y" fmla="*/ 337455 h 825932"/>
              <a:gd name="GluePoint28X" fmla="*/ 2443333 w 3472060"/>
              <a:gd name="GluePoint28Y" fmla="*/ 308983 h 825932"/>
              <a:gd name="GluePoint29X" fmla="*/ 2558014 w 3472060"/>
              <a:gd name="GluePoint29Y" fmla="*/ 278646 h 825932"/>
              <a:gd name="GluePoint30X" fmla="*/ 2673621 w 3472060"/>
              <a:gd name="GluePoint30Y" fmla="*/ 247421 h 825932"/>
              <a:gd name="GluePoint31X" fmla="*/ 2787008 w 3472060"/>
              <a:gd name="GluePoint31Y" fmla="*/ 215853 h 825932"/>
              <a:gd name="GluePoint32X" fmla="*/ 2901442 w 3472060"/>
              <a:gd name="GluePoint32Y" fmla="*/ 182011 h 825932"/>
              <a:gd name="GluePoint33X" fmla="*/ 3015722 w 3472060"/>
              <a:gd name="GluePoint33Y" fmla="*/ 147286 h 825932"/>
              <a:gd name="GluePoint34X" fmla="*/ 3130018 w 3472060"/>
              <a:gd name="GluePoint34Y" fmla="*/ 112649 h 825932"/>
              <a:gd name="GluePoint35X" fmla="*/ 3243551 w 3472060"/>
              <a:gd name="GluePoint35Y" fmla="*/ 75688 h 825932"/>
              <a:gd name="GluePoint36X" fmla="*/ 3356992 w 3472060"/>
              <a:gd name="GluePoint36Y" fmla="*/ 38197 h 825932"/>
              <a:gd name="GluePoint37X" fmla="*/ 3470310 w 3472060"/>
              <a:gd name="GluePoint37Y" fmla="*/ 0 h 82593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86720" y="629280"/>
            <a:ext cx="6937560" cy="101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EBEBEB"/>
                </a:solidFill>
                <a:effectLst/>
                <a:uFillTx/>
                <a:latin typeface="Century Gothic"/>
              </a:rPr>
              <a:t>Project Objective</a:t>
            </a:r>
            <a:endParaRPr lang="en-US" sz="2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24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28200" y="0"/>
            <a:ext cx="513000" cy="114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25" name="Freeform: 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62200"/>
            <a:ext cx="9142920" cy="5094360"/>
          </a:xfrm>
          <a:custGeom>
            <a:avLst/>
            <a:gdLst>
              <a:gd name="textAreaLeft" fmla="*/ 0 w 9142920"/>
              <a:gd name="textAreaRight" fmla="*/ 9144360 w 9142920"/>
              <a:gd name="textAreaTop" fmla="*/ 0 h 5094360"/>
              <a:gd name="textAreaBottom" fmla="*/ 5095800 h 5094360"/>
              <a:gd name="GluePoint1X" fmla="*/ 1 w 12192418"/>
              <a:gd name="GluePoint1Y" fmla="*/ 0 h 5095933"/>
              <a:gd name="GluePoint2X" fmla="*/ 71932 w 12192418"/>
              <a:gd name="GluePoint2Y" fmla="*/ 12261 h 5095933"/>
              <a:gd name="GluePoint3X" fmla="*/ 282849 w 12192418"/>
              <a:gd name="GluePoint3Y" fmla="*/ 48343 h 5095933"/>
              <a:gd name="GluePoint4X" fmla="*/ 436464 w 12192418"/>
              <a:gd name="GluePoint4Y" fmla="*/ 73565 h 5095933"/>
              <a:gd name="GluePoint5X" fmla="*/ 619339 w 12192418"/>
              <a:gd name="GluePoint5Y" fmla="*/ 100188 h 5095933"/>
              <a:gd name="GluePoint6X" fmla="*/ 836351 w 12192418"/>
              <a:gd name="GluePoint6Y" fmla="*/ 132066 h 5095933"/>
              <a:gd name="GluePoint7X" fmla="*/ 1076528 w 12192418"/>
              <a:gd name="GluePoint7Y" fmla="*/ 165696 h 5095933"/>
              <a:gd name="GluePoint8X" fmla="*/ 1347184 w 12192418"/>
              <a:gd name="GluePoint8Y" fmla="*/ 201077 h 5095933"/>
              <a:gd name="GluePoint9X" fmla="*/ 1642223 w 12192418"/>
              <a:gd name="GluePoint9Y" fmla="*/ 238560 h 5095933"/>
              <a:gd name="GluePoint10X" fmla="*/ 1962864 w 12192418"/>
              <a:gd name="GluePoint10Y" fmla="*/ 276043 h 5095933"/>
              <a:gd name="GluePoint11X" fmla="*/ 2304232 w 12192418"/>
              <a:gd name="GluePoint11Y" fmla="*/ 314227 h 5095933"/>
              <a:gd name="GluePoint12X" fmla="*/ 2672421 w 12192418"/>
              <a:gd name="GluePoint12Y" fmla="*/ 349608 h 5095933"/>
              <a:gd name="GluePoint13X" fmla="*/ 3057678 w 12192418"/>
              <a:gd name="GluePoint13Y" fmla="*/ 383588 h 5095933"/>
              <a:gd name="GluePoint14X" fmla="*/ 3464881 w 12192418"/>
              <a:gd name="GluePoint14Y" fmla="*/ 414415 h 5095933"/>
              <a:gd name="GluePoint15X" fmla="*/ 3889152 w 12192418"/>
              <a:gd name="GluePoint15Y" fmla="*/ 443841 h 5095933"/>
              <a:gd name="GluePoint16X" fmla="*/ 4331710 w 12192418"/>
              <a:gd name="GluePoint16Y" fmla="*/ 471515 h 5095933"/>
              <a:gd name="GluePoint17X" fmla="*/ 4558476 w 12192418"/>
              <a:gd name="GluePoint17Y" fmla="*/ 481324 h 5095933"/>
              <a:gd name="GluePoint18X" fmla="*/ 4790118 w 12192418"/>
              <a:gd name="GluePoint18Y" fmla="*/ 492183 h 5095933"/>
              <a:gd name="GluePoint19X" fmla="*/ 5025418 w 12192418"/>
              <a:gd name="GluePoint19Y" fmla="*/ 502342 h 5095933"/>
              <a:gd name="GluePoint20X" fmla="*/ 5261937 w 12192418"/>
              <a:gd name="GluePoint20Y" fmla="*/ 508998 h 5095933"/>
              <a:gd name="GluePoint21X" fmla="*/ 5503332 w 12192418"/>
              <a:gd name="GluePoint21Y" fmla="*/ 514953 h 5095933"/>
              <a:gd name="GluePoint22X" fmla="*/ 5747167 w 12192418"/>
              <a:gd name="GluePoint22Y" fmla="*/ 521259 h 5095933"/>
              <a:gd name="GluePoint23X" fmla="*/ 5995877 w 12192418"/>
              <a:gd name="GluePoint23Y" fmla="*/ 525463 h 5095933"/>
              <a:gd name="GluePoint24X" fmla="*/ 6247026 w 12192418"/>
              <a:gd name="GluePoint24Y" fmla="*/ 525463 h 5095933"/>
              <a:gd name="GluePoint25X" fmla="*/ 6500613 w 12192418"/>
              <a:gd name="GluePoint25Y" fmla="*/ 527565 h 5095933"/>
              <a:gd name="GluePoint26X" fmla="*/ 6756639 w 12192418"/>
              <a:gd name="GluePoint26Y" fmla="*/ 525463 h 5095933"/>
              <a:gd name="GluePoint27X" fmla="*/ 7016322 w 12192418"/>
              <a:gd name="GluePoint27Y" fmla="*/ 521259 h 5095933"/>
              <a:gd name="GluePoint28X" fmla="*/ 7276005 w 12192418"/>
              <a:gd name="GluePoint28Y" fmla="*/ 517406 h 5095933"/>
              <a:gd name="GluePoint29X" fmla="*/ 7539345 w 12192418"/>
              <a:gd name="GluePoint29Y" fmla="*/ 508998 h 5095933"/>
              <a:gd name="GluePoint30X" fmla="*/ 7805124 w 12192418"/>
              <a:gd name="GluePoint30Y" fmla="*/ 500241 h 5095933"/>
              <a:gd name="GluePoint31X" fmla="*/ 8070903 w 12192418"/>
              <a:gd name="GluePoint31Y" fmla="*/ 490082 h 5095933"/>
              <a:gd name="GluePoint32X" fmla="*/ 8339121 w 12192418"/>
              <a:gd name="GluePoint32Y" fmla="*/ 475719 h 5095933"/>
              <a:gd name="GluePoint33X" fmla="*/ 8609776 w 12192418"/>
              <a:gd name="GluePoint33Y" fmla="*/ 458554 h 5095933"/>
              <a:gd name="GluePoint34X" fmla="*/ 8881651 w 12192418"/>
              <a:gd name="GluePoint34Y" fmla="*/ 442089 h 5095933"/>
              <a:gd name="GluePoint35X" fmla="*/ 9153526 w 12192418"/>
              <a:gd name="GluePoint35Y" fmla="*/ 421071 h 5095933"/>
              <a:gd name="GluePoint36X" fmla="*/ 9429058 w 12192418"/>
              <a:gd name="GluePoint36Y" fmla="*/ 395849 h 5095933"/>
              <a:gd name="GluePoint37X" fmla="*/ 9700933 w 12192418"/>
              <a:gd name="GluePoint37Y" fmla="*/ 370626 h 5095933"/>
              <a:gd name="GluePoint38X" fmla="*/ 9977684 w 12192418"/>
              <a:gd name="GluePoint38Y" fmla="*/ 341551 h 5095933"/>
              <a:gd name="GluePoint39X" fmla="*/ 10255655 w 12192418"/>
              <a:gd name="GluePoint39Y" fmla="*/ 309673 h 5095933"/>
              <a:gd name="GluePoint40X" fmla="*/ 10529968 w 12192418"/>
              <a:gd name="GluePoint40Y" fmla="*/ 276043 h 5095933"/>
              <a:gd name="GluePoint41X" fmla="*/ 10807939 w 12192418"/>
              <a:gd name="GluePoint41Y" fmla="*/ 236809 h 5095933"/>
              <a:gd name="GluePoint42X" fmla="*/ 11084690 w 12192418"/>
              <a:gd name="GluePoint42Y" fmla="*/ 194772 h 5095933"/>
              <a:gd name="GluePoint43X" fmla="*/ 11362661 w 12192418"/>
              <a:gd name="GluePoint43Y" fmla="*/ 153085 h 5095933"/>
              <a:gd name="GluePoint44X" fmla="*/ 11639412 w 12192418"/>
              <a:gd name="GluePoint44Y" fmla="*/ 104392 h 5095933"/>
              <a:gd name="GluePoint45X" fmla="*/ 11914945 w 12192418"/>
              <a:gd name="GluePoint45Y" fmla="*/ 54648 h 5095933"/>
              <a:gd name="GluePoint46X" fmla="*/ 12191696 w 12192418"/>
              <a:gd name="GluePoint46Y" fmla="*/ 2452 h 5095933"/>
              <a:gd name="GluePoint47X" fmla="*/ 12191696 w 12192418"/>
              <a:gd name="GluePoint47Y" fmla="*/ 2109542 h 5095933"/>
              <a:gd name="GluePoint48X" fmla="*/ 12191999 w 12192418"/>
              <a:gd name="GluePoint48Y" fmla="*/ 2109542 h 5095933"/>
              <a:gd name="GluePoint49X" fmla="*/ 12191999 w 12192418"/>
              <a:gd name="GluePoint49Y" fmla="*/ 2802467 h 5095933"/>
              <a:gd name="GluePoint50X" fmla="*/ 12192418 w 12192418"/>
              <a:gd name="GluePoint50Y" fmla="*/ 2802467 h 5095933"/>
              <a:gd name="GluePoint51X" fmla="*/ 12192418 w 12192418"/>
              <a:gd name="GluePoint51Y" fmla="*/ 5095933 h 5095933"/>
              <a:gd name="GluePoint52X" fmla="*/ 1 w 12192418"/>
              <a:gd name="GluePoint52Y" fmla="*/ 5095933 h 5095933"/>
              <a:gd name="GluePoint53X" fmla="*/ 1 w 12192418"/>
              <a:gd name="GluePoint53Y" fmla="*/ 4074529 h 5095933"/>
              <a:gd name="GluePoint54X" fmla="*/ 0 w 12192418"/>
              <a:gd name="GluePoint54Y" fmla="*/ 4074529 h 5095933"/>
              <a:gd name="GluePoint55X" fmla="*/ 0 w 12192418"/>
              <a:gd name="GluePoint55Y" fmla="*/ 2109542 h 5095933"/>
              <a:gd name="GluePoint56X" fmla="*/ 1 w 12192418"/>
              <a:gd name="GluePoint56Y" fmla="*/ 2109542 h 509593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</a:cxnLst>
            <a:rect l="textAreaLeft" t="textAreaTop" r="textAreaRight" b="textAreaBottom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graphicFrame>
        <p:nvGraphicFramePr>
          <p:cNvPr id="226" name="Diagram1"/>
          <p:cNvGraphicFramePr/>
          <p:nvPr>
            <p:extLst>
              <p:ext uri="{D42A27DB-BD31-4B8C-83A1-F6EECF244321}">
                <p14:modId xmlns:p14="http://schemas.microsoft.com/office/powerpoint/2010/main" val="941393183"/>
              </p:ext>
            </p:extLst>
          </p:nvPr>
        </p:nvGraphicFramePr>
        <p:xfrm>
          <a:off x="486720" y="2810160"/>
          <a:ext cx="8170200" cy="3402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82760" y="1447920"/>
            <a:ext cx="2329920" cy="251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2F2F2"/>
                </a:solidFill>
                <a:effectLst/>
                <a:uFillTx/>
                <a:latin typeface="Century Gothic"/>
              </a:rPr>
              <a:t>Project Methodology</a:t>
            </a:r>
            <a:endParaRPr lang="en-US" sz="2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29" name="Freeform: 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20840" y="0"/>
            <a:ext cx="6021720" cy="6856560"/>
          </a:xfrm>
          <a:custGeom>
            <a:avLst/>
            <a:gdLst>
              <a:gd name="textAreaLeft" fmla="*/ 0 w 6021720"/>
              <a:gd name="textAreaRight" fmla="*/ 6023160 w 6021720"/>
              <a:gd name="textAreaTop" fmla="*/ 0 h 6856560"/>
              <a:gd name="textAreaBottom" fmla="*/ 6858000 h 6856560"/>
              <a:gd name="GluePoint1X" fmla="*/ 1176 w 8030690"/>
              <a:gd name="GluePoint1Y" fmla="*/ 0 h 6858000"/>
              <a:gd name="GluePoint2X" fmla="*/ 1344715 w 8030690"/>
              <a:gd name="GluePoint2Y" fmla="*/ 0 h 6858000"/>
              <a:gd name="GluePoint3X" fmla="*/ 1344715 w 8030690"/>
              <a:gd name="GluePoint3Y" fmla="*/ 0 h 6858000"/>
              <a:gd name="GluePoint4X" fmla="*/ 8030690 w 8030690"/>
              <a:gd name="GluePoint4Y" fmla="*/ 0 h 6858000"/>
              <a:gd name="GluePoint5X" fmla="*/ 8030690 w 8030690"/>
              <a:gd name="GluePoint5Y" fmla="*/ 6858000 h 6858000"/>
              <a:gd name="GluePoint6X" fmla="*/ 477746 w 8030690"/>
              <a:gd name="GluePoint6Y" fmla="*/ 6858000 h 6858000"/>
              <a:gd name="GluePoint7X" fmla="*/ 477746 w 8030690"/>
              <a:gd name="GluePoint7Y" fmla="*/ 6858000 h 6858000"/>
              <a:gd name="GluePoint8X" fmla="*/ 0 w 8030690"/>
              <a:gd name="GluePoint8Y" fmla="*/ 6858000 h 6858000"/>
              <a:gd name="GluePoint9X" fmla="*/ 5883 w 8030690"/>
              <a:gd name="GluePoint9Y" fmla="*/ 6817538 h 6858000"/>
              <a:gd name="GluePoint10X" fmla="*/ 23196 w 8030690"/>
              <a:gd name="GluePoint10Y" fmla="*/ 6698894 h 6858000"/>
              <a:gd name="GluePoint11X" fmla="*/ 35298 w 8030690"/>
              <a:gd name="GluePoint11Y" fmla="*/ 6612483 h 6858000"/>
              <a:gd name="GluePoint12X" fmla="*/ 48073 w 8030690"/>
              <a:gd name="GluePoint12Y" fmla="*/ 6509613 h 6858000"/>
              <a:gd name="GluePoint13X" fmla="*/ 63369 w 8030690"/>
              <a:gd name="GluePoint13Y" fmla="*/ 6387541 h 6858000"/>
              <a:gd name="GluePoint14X" fmla="*/ 79506 w 8030690"/>
              <a:gd name="GluePoint14Y" fmla="*/ 6252438 h 6858000"/>
              <a:gd name="GluePoint15X" fmla="*/ 96483 w 8030690"/>
              <a:gd name="GluePoint15Y" fmla="*/ 6100191 h 6858000"/>
              <a:gd name="GluePoint16X" fmla="*/ 114468 w 8030690"/>
              <a:gd name="GluePoint16Y" fmla="*/ 5934227 h 6858000"/>
              <a:gd name="GluePoint17X" fmla="*/ 132454 w 8030690"/>
              <a:gd name="GluePoint17Y" fmla="*/ 5753862 h 6858000"/>
              <a:gd name="GluePoint18X" fmla="*/ 150775 w 8030690"/>
              <a:gd name="GluePoint18Y" fmla="*/ 5561838 h 6858000"/>
              <a:gd name="GluePoint19X" fmla="*/ 167752 w 8030690"/>
              <a:gd name="GluePoint19Y" fmla="*/ 5354726 h 6858000"/>
              <a:gd name="GluePoint20X" fmla="*/ 184057 w 8030690"/>
              <a:gd name="GluePoint20Y" fmla="*/ 5138013 h 6858000"/>
              <a:gd name="GluePoint21X" fmla="*/ 198849 w 8030690"/>
              <a:gd name="GluePoint21Y" fmla="*/ 4908956 h 6858000"/>
              <a:gd name="GluePoint22X" fmla="*/ 212968 w 8030690"/>
              <a:gd name="GluePoint22Y" fmla="*/ 4670298 h 6858000"/>
              <a:gd name="GluePoint23X" fmla="*/ 226248 w 8030690"/>
              <a:gd name="GluePoint23Y" fmla="*/ 4421352 h 6858000"/>
              <a:gd name="GluePoint24X" fmla="*/ 230954 w 8030690"/>
              <a:gd name="GluePoint24Y" fmla="*/ 4293793 h 6858000"/>
              <a:gd name="GluePoint25X" fmla="*/ 236165 w 8030690"/>
              <a:gd name="GluePoint25Y" fmla="*/ 4163491 h 6858000"/>
              <a:gd name="GluePoint26X" fmla="*/ 241039 w 8030690"/>
              <a:gd name="GluePoint26Y" fmla="*/ 4031132 h 6858000"/>
              <a:gd name="GluePoint27X" fmla="*/ 244233 w 8030690"/>
              <a:gd name="GluePoint27Y" fmla="*/ 3898087 h 6858000"/>
              <a:gd name="GluePoint28X" fmla="*/ 247091 w 8030690"/>
              <a:gd name="GluePoint28Y" fmla="*/ 3762298 h 6858000"/>
              <a:gd name="GluePoint29X" fmla="*/ 250116 w 8030690"/>
              <a:gd name="GluePoint29Y" fmla="*/ 3625138 h 6858000"/>
              <a:gd name="GluePoint30X" fmla="*/ 252133 w 8030690"/>
              <a:gd name="GluePoint30Y" fmla="*/ 3485235 h 6858000"/>
              <a:gd name="GluePoint31X" fmla="*/ 252133 w 8030690"/>
              <a:gd name="GluePoint31Y" fmla="*/ 3343960 h 6858000"/>
              <a:gd name="GluePoint32X" fmla="*/ 253142 w 8030690"/>
              <a:gd name="GluePoint32Y" fmla="*/ 3201314 h 6858000"/>
              <a:gd name="GluePoint33X" fmla="*/ 252133 w 8030690"/>
              <a:gd name="GluePoint33Y" fmla="*/ 3057296 h 6858000"/>
              <a:gd name="GluePoint34X" fmla="*/ 250116 w 8030690"/>
              <a:gd name="GluePoint34Y" fmla="*/ 2911221 h 6858000"/>
              <a:gd name="GluePoint35X" fmla="*/ 248267 w 8030690"/>
              <a:gd name="GluePoint35Y" fmla="*/ 2765145 h 6858000"/>
              <a:gd name="GluePoint36X" fmla="*/ 244233 w 8030690"/>
              <a:gd name="GluePoint36Y" fmla="*/ 2617013 h 6858000"/>
              <a:gd name="GluePoint37X" fmla="*/ 240031 w 8030690"/>
              <a:gd name="GluePoint37Y" fmla="*/ 2467508 h 6858000"/>
              <a:gd name="GluePoint38X" fmla="*/ 235156 w 8030690"/>
              <a:gd name="GluePoint38Y" fmla="*/ 2318004 h 6858000"/>
              <a:gd name="GluePoint39X" fmla="*/ 228265 w 8030690"/>
              <a:gd name="GluePoint39Y" fmla="*/ 2167128 h 6858000"/>
              <a:gd name="GluePoint40X" fmla="*/ 220028 w 8030690"/>
              <a:gd name="GluePoint40Y" fmla="*/ 2014880 h 6858000"/>
              <a:gd name="GluePoint41X" fmla="*/ 212128 w 8030690"/>
              <a:gd name="GluePoint41Y" fmla="*/ 1861947 h 6858000"/>
              <a:gd name="GluePoint42X" fmla="*/ 202043 w 8030690"/>
              <a:gd name="GluePoint42Y" fmla="*/ 1709013 h 6858000"/>
              <a:gd name="GluePoint43X" fmla="*/ 189940 w 8030690"/>
              <a:gd name="GluePoint43Y" fmla="*/ 1554023 h 6858000"/>
              <a:gd name="GluePoint44X" fmla="*/ 177838 w 8030690"/>
              <a:gd name="GluePoint44Y" fmla="*/ 1401089 h 6858000"/>
              <a:gd name="GluePoint45X" fmla="*/ 163886 w 8030690"/>
              <a:gd name="GluePoint45Y" fmla="*/ 1245413 h 6858000"/>
              <a:gd name="GluePoint46X" fmla="*/ 148590 w 8030690"/>
              <a:gd name="GluePoint46Y" fmla="*/ 1089050 h 6858000"/>
              <a:gd name="GluePoint47X" fmla="*/ 132454 w 8030690"/>
              <a:gd name="GluePoint47Y" fmla="*/ 934745 h 6858000"/>
              <a:gd name="GluePoint48X" fmla="*/ 113628 w 8030690"/>
              <a:gd name="GluePoint48Y" fmla="*/ 778383 h 6858000"/>
              <a:gd name="GluePoint49X" fmla="*/ 93457 w 8030690"/>
              <a:gd name="GluePoint49Y" fmla="*/ 622706 h 6858000"/>
              <a:gd name="GluePoint50X" fmla="*/ 73454 w 8030690"/>
              <a:gd name="GluePoint50Y" fmla="*/ 466344 h 6858000"/>
              <a:gd name="GluePoint51X" fmla="*/ 50090 w 8030690"/>
              <a:gd name="GluePoint51Y" fmla="*/ 310667 h 6858000"/>
              <a:gd name="GluePoint52X" fmla="*/ 26222 w 8030690"/>
              <a:gd name="GluePoint52Y" fmla="*/ 155676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</a:cxnLst>
            <a:rect l="textAreaLeft" t="textAreaTop" r="textAreaRight" b="textAreaBottom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30" name="Freeform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61000" y="0"/>
            <a:ext cx="418320" cy="3708360"/>
          </a:xfrm>
          <a:custGeom>
            <a:avLst/>
            <a:gdLst>
              <a:gd name="textAreaLeft" fmla="*/ 0 w 418320"/>
              <a:gd name="textAreaRight" fmla="*/ 419760 w 418320"/>
              <a:gd name="textAreaTop" fmla="*/ 0 h 3708360"/>
              <a:gd name="textAreaBottom" fmla="*/ 3709800 h 3708360"/>
              <a:gd name="GluePoint1X" fmla="*/ 0 w 559472"/>
              <a:gd name="GluePoint1Y" fmla="*/ 0 h 3709642"/>
              <a:gd name="GluePoint2X" fmla="*/ 473952 w 559472"/>
              <a:gd name="GluePoint2Y" fmla="*/ 0 h 3709642"/>
              <a:gd name="GluePoint3X" fmla="*/ 485840 w 559472"/>
              <a:gd name="GluePoint3Y" fmla="*/ 161194 h 3709642"/>
              <a:gd name="GluePoint4X" fmla="*/ 523949 w 559472"/>
              <a:gd name="GluePoint4Y" fmla="*/ 3672197 h 3709642"/>
              <a:gd name="GluePoint5X" fmla="*/ 454748 w 559472"/>
              <a:gd name="GluePoint5Y" fmla="*/ 3709642 h 3709642"/>
              <a:gd name="GluePoint6X" fmla="*/ 448224 w 559472"/>
              <a:gd name="GluePoint6Y" fmla="*/ 3510471 h 3709642"/>
              <a:gd name="GluePoint7X" fmla="*/ 443564 w 559472"/>
              <a:gd name="GluePoint7Y" fmla="*/ 3408563 h 3709642"/>
              <a:gd name="GluePoint8X" fmla="*/ 438902 w 559472"/>
              <a:gd name="GluePoint8Y" fmla="*/ 3304407 h 3709642"/>
              <a:gd name="GluePoint9X" fmla="*/ 433941 w 559472"/>
              <a:gd name="GluePoint9Y" fmla="*/ 3198777 h 3709642"/>
              <a:gd name="GluePoint10X" fmla="*/ 427584 w 559472"/>
              <a:gd name="GluePoint10Y" fmla="*/ 3092510 h 3709642"/>
              <a:gd name="GluePoint11X" fmla="*/ 420988 w 559472"/>
              <a:gd name="GluePoint11Y" fmla="*/ 2984390 h 3709642"/>
              <a:gd name="GluePoint12X" fmla="*/ 414330 w 559472"/>
              <a:gd name="GluePoint12Y" fmla="*/ 2874401 h 3709642"/>
              <a:gd name="GluePoint13X" fmla="*/ 406840 w 559472"/>
              <a:gd name="GluePoint13Y" fmla="*/ 2762980 h 3709642"/>
              <a:gd name="GluePoint14X" fmla="*/ 397745 w 559472"/>
              <a:gd name="GluePoint14Y" fmla="*/ 2650566 h 3709642"/>
              <a:gd name="GluePoint15X" fmla="*/ 389154 w 559472"/>
              <a:gd name="GluePoint15Y" fmla="*/ 2536612 h 3709642"/>
              <a:gd name="GluePoint16X" fmla="*/ 379225 w 559472"/>
              <a:gd name="GluePoint16Y" fmla="*/ 2421642 h 3709642"/>
              <a:gd name="GluePoint17X" fmla="*/ 368316 w 559472"/>
              <a:gd name="GluePoint17Y" fmla="*/ 2305627 h 3709642"/>
              <a:gd name="GluePoint18X" fmla="*/ 357466 w 559472"/>
              <a:gd name="GluePoint18Y" fmla="*/ 2189233 h 3709642"/>
              <a:gd name="GluePoint19X" fmla="*/ 344982 w 559472"/>
              <a:gd name="GluePoint19Y" fmla="*/ 2071473 h 3709642"/>
              <a:gd name="GluePoint20X" fmla="*/ 332466 w 559472"/>
              <a:gd name="GluePoint20Y" fmla="*/ 1952216 h 3709642"/>
              <a:gd name="GluePoint21X" fmla="*/ 319121 w 559472"/>
              <a:gd name="GluePoint21Y" fmla="*/ 1833776 h 3709642"/>
              <a:gd name="GluePoint22X" fmla="*/ 304408 w 559472"/>
              <a:gd name="GluePoint22Y" fmla="*/ 1713948 h 3709642"/>
              <a:gd name="GluePoint23X" fmla="*/ 288685 w 559472"/>
              <a:gd name="GluePoint23Y" fmla="*/ 1592703 h 3709642"/>
              <a:gd name="GluePoint24X" fmla="*/ 273050 w 559472"/>
              <a:gd name="GluePoint24Y" fmla="*/ 1471451 h 3709642"/>
              <a:gd name="GluePoint25X" fmla="*/ 255813 w 559472"/>
              <a:gd name="GluePoint25Y" fmla="*/ 1350328 h 3709642"/>
              <a:gd name="GluePoint26X" fmla="*/ 237060 w 559472"/>
              <a:gd name="GluePoint26Y" fmla="*/ 1227080 h 3709642"/>
              <a:gd name="GluePoint27X" fmla="*/ 218488 w 559472"/>
              <a:gd name="GluePoint27Y" fmla="*/ 1106065 h 3709642"/>
              <a:gd name="GluePoint28X" fmla="*/ 198221 w 559472"/>
              <a:gd name="GluePoint28Y" fmla="*/ 982940 h 3709642"/>
              <a:gd name="GluePoint29X" fmla="*/ 177152 w 559472"/>
              <a:gd name="GluePoint29Y" fmla="*/ 858755 h 3709642"/>
              <a:gd name="GluePoint30X" fmla="*/ 155551 w 559472"/>
              <a:gd name="GluePoint30Y" fmla="*/ 736861 h 3709642"/>
              <a:gd name="GluePoint31X" fmla="*/ 131782 w 559472"/>
              <a:gd name="GluePoint31Y" fmla="*/ 613645 h 3709642"/>
              <a:gd name="GluePoint32X" fmla="*/ 107123 w 559472"/>
              <a:gd name="GluePoint32Y" fmla="*/ 490500 h 3709642"/>
              <a:gd name="GluePoint33X" fmla="*/ 82552 w 559472"/>
              <a:gd name="GluePoint33Y" fmla="*/ 367348 h 3709642"/>
              <a:gd name="GluePoint34X" fmla="*/ 55608 w 559472"/>
              <a:gd name="GluePoint34Y" fmla="*/ 244762 h 3709642"/>
              <a:gd name="GluePoint35X" fmla="*/ 28130 w 559472"/>
              <a:gd name="GluePoint35Y" fmla="*/ 122220 h 3709642"/>
              <a:gd name="GluePoint36X" fmla="*/ 0 w 559472"/>
              <a:gd name="GluePoint36Y" fmla="*/ 0 h 370964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</a:cxnLst>
            <a:rect l="textAreaLeft" t="textAreaTop" r="textAreaRight" b="textAreaBottom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31" name="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28200" y="0"/>
            <a:ext cx="513000" cy="114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graphicFrame>
        <p:nvGraphicFramePr>
          <p:cNvPr id="232" name="Diagram2"/>
          <p:cNvGraphicFramePr/>
          <p:nvPr>
            <p:extLst>
              <p:ext uri="{D42A27DB-BD31-4B8C-83A1-F6EECF244321}">
                <p14:modId xmlns:p14="http://schemas.microsoft.com/office/powerpoint/2010/main" val="4177160559"/>
              </p:ext>
            </p:extLst>
          </p:nvPr>
        </p:nvGraphicFramePr>
        <p:xfrm>
          <a:off x="3786120" y="1447920"/>
          <a:ext cx="4870440" cy="457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2040" cy="70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Model Performance Summary</a:t>
            </a:r>
            <a:endParaRPr lang="en-US" sz="2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graphicFrame>
        <p:nvGraphicFramePr>
          <p:cNvPr id="234" name="Diagram3"/>
          <p:cNvGraphicFramePr/>
          <p:nvPr>
            <p:extLst>
              <p:ext uri="{D42A27DB-BD31-4B8C-83A1-F6EECF244321}">
                <p14:modId xmlns:p14="http://schemas.microsoft.com/office/powerpoint/2010/main" val="3601103903"/>
              </p:ext>
            </p:extLst>
          </p:nvPr>
        </p:nvGraphicFramePr>
        <p:xfrm>
          <a:off x="484560" y="1454040"/>
          <a:ext cx="7679520" cy="4828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120320" y="306360"/>
            <a:ext cx="6472440" cy="73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DASHBOARD OVERVIEW</a:t>
            </a:r>
            <a:endParaRPr lang="en-US" sz="2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pic>
        <p:nvPicPr>
          <p:cNvPr id="236" name=""/>
          <p:cNvPicPr/>
          <p:nvPr/>
        </p:nvPicPr>
        <p:blipFill>
          <a:blip r:embed="rId1"/>
          <a:stretch/>
        </p:blipFill>
        <p:spPr>
          <a:xfrm>
            <a:off x="37800" y="873360"/>
            <a:ext cx="9142920" cy="5965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080000" y="40320"/>
            <a:ext cx="7053840" cy="67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DASHBOARD OVERVIEW</a:t>
            </a:r>
            <a:endParaRPr lang="en-US" sz="2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pic>
        <p:nvPicPr>
          <p:cNvPr id="238" name=""/>
          <p:cNvPicPr/>
          <p:nvPr/>
        </p:nvPicPr>
        <p:blipFill>
          <a:blip r:embed="rId1"/>
          <a:stretch/>
        </p:blipFill>
        <p:spPr>
          <a:xfrm>
            <a:off x="37800" y="863640"/>
            <a:ext cx="9142920" cy="599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3610" t="0" r="0" b="0"/>
          <a:stretch/>
        </p:blipFill>
        <p:spPr>
          <a:xfrm>
            <a:off x="0" y="2669760"/>
            <a:ext cx="3026160" cy="418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0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rcRect l="35647" t="0" r="0" b="0"/>
          <a:stretch/>
        </p:blipFill>
        <p:spPr>
          <a:xfrm>
            <a:off x="0" y="2892240"/>
            <a:ext cx="1140480" cy="236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Oval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45720" y="2400840"/>
            <a:ext cx="211320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242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rcRect l="0" t="28812" r="0" b="0"/>
          <a:stretch/>
        </p:blipFill>
        <p:spPr>
          <a:xfrm>
            <a:off x="5999400" y="0"/>
            <a:ext cx="1200960" cy="114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/>
          <a:srcRect l="0" t="0" r="0" b="23333"/>
          <a:stretch/>
        </p:blipFill>
        <p:spPr>
          <a:xfrm>
            <a:off x="6454440" y="6095880"/>
            <a:ext cx="743760" cy="7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28200" y="0"/>
            <a:ext cx="513000" cy="114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941840" y="90000"/>
            <a:ext cx="5635080" cy="88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4572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Actual vs Predicted Cement Consumption</a:t>
            </a:r>
            <a:endParaRPr lang="en-US" sz="2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46" name="TextBox 3"/>
          <p:cNvSpPr/>
          <p:nvPr/>
        </p:nvSpPr>
        <p:spPr>
          <a:xfrm>
            <a:off x="5616000" y="3660840"/>
            <a:ext cx="3382920" cy="20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457200" lvl="1" indent="-2160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Random Forest predictions closely follow actual cement consumption trends.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lvl="1" indent="-2160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The model captures demand fluctuations effectively.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lvl="1" indent="-2160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Low RMSE and MAE indicate strong forecasting performance.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4"/>
          <p:cNvSpPr/>
          <p:nvPr/>
        </p:nvSpPr>
        <p:spPr>
          <a:xfrm>
            <a:off x="316440" y="6117120"/>
            <a:ext cx="83084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The chart demonstrates that the Random Forest model successfully captured cement demand trends across observations.”.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8" name=""/>
          <p:cNvPicPr/>
          <p:nvPr/>
        </p:nvPicPr>
        <p:blipFill>
          <a:blip r:embed="rId6"/>
          <a:stretch/>
        </p:blipFill>
        <p:spPr>
          <a:xfrm>
            <a:off x="180000" y="1080000"/>
            <a:ext cx="8638920" cy="262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3610" t="0" r="0" b="0"/>
          <a:stretch/>
        </p:blipFill>
        <p:spPr>
          <a:xfrm>
            <a:off x="0" y="2669760"/>
            <a:ext cx="3026160" cy="418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0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rcRect l="35647" t="0" r="0" b="0"/>
          <a:stretch/>
        </p:blipFill>
        <p:spPr>
          <a:xfrm>
            <a:off x="0" y="2892240"/>
            <a:ext cx="1140480" cy="236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Oval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6600" y="1676520"/>
            <a:ext cx="2113200" cy="281808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252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rcRect l="0" t="28812" r="0" b="0"/>
          <a:stretch/>
        </p:blipFill>
        <p:spPr>
          <a:xfrm>
            <a:off x="5999400" y="0"/>
            <a:ext cx="1200960" cy="114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3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/>
          <a:srcRect l="0" t="0" r="0" b="23333"/>
          <a:stretch/>
        </p:blipFill>
        <p:spPr>
          <a:xfrm>
            <a:off x="6454440" y="6095880"/>
            <a:ext cx="743760" cy="7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28200" y="0"/>
            <a:ext cx="513000" cy="114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889200" y="76320"/>
            <a:ext cx="6735240" cy="53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Random Forest Feature Importance</a:t>
            </a:r>
            <a:endParaRPr lang="en-US" sz="2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56" name="TextBox 3"/>
          <p:cNvSpPr/>
          <p:nvPr/>
        </p:nvSpPr>
        <p:spPr>
          <a:xfrm>
            <a:off x="6309360" y="1353240"/>
            <a:ext cx="2619360" cy="28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Planned pour tonnes was the strongest demand driver.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Rainfall, deliveries, and opening inventory also influenced demand.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Temperature contributed minimally to prediction performance.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4"/>
          <p:cNvSpPr/>
          <p:nvPr/>
        </p:nvSpPr>
        <p:spPr>
          <a:xfrm>
            <a:off x="1019160" y="5480640"/>
            <a:ext cx="716760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The analysis highlights the key factors driving cement demand prediction.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8" name=""/>
          <p:cNvPicPr/>
          <p:nvPr/>
        </p:nvPicPr>
        <p:blipFill>
          <a:blip r:embed="rId6"/>
          <a:stretch/>
        </p:blipFill>
        <p:spPr>
          <a:xfrm>
            <a:off x="360000" y="1676520"/>
            <a:ext cx="6403320" cy="233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2462400" y="216000"/>
            <a:ext cx="4217760" cy="47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Top 10 Inventory Risk Sites</a:t>
            </a:r>
            <a:endParaRPr lang="en-US" sz="24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pic>
        <p:nvPicPr>
          <p:cNvPr id="260" name="Picture 2" descr="top10_inventory_risk_sites.png"/>
          <p:cNvPicPr/>
          <p:nvPr/>
        </p:nvPicPr>
        <p:blipFill>
          <a:blip r:embed="rId1"/>
          <a:stretch/>
        </p:blipFill>
        <p:spPr>
          <a:xfrm>
            <a:off x="365760" y="824040"/>
            <a:ext cx="5477400" cy="432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Box 3"/>
          <p:cNvSpPr/>
          <p:nvPr/>
        </p:nvSpPr>
        <p:spPr>
          <a:xfrm>
            <a:off x="6006600" y="1264680"/>
            <a:ext cx="2770200" cy="29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SITE_022 and SITE_008 recorded the highest inventory risk levels.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Low projected inventory may indicate potential stock shortages.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The chart supports proactive inventory planning decisions.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984960" y="5552280"/>
            <a:ext cx="70826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These insights support proactive inventory replenishment and risk mitigation.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833400" y="99360"/>
            <a:ext cx="6451920" cy="48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Top 10 Projected Closing Inventory by Site</a:t>
            </a:r>
            <a:endParaRPr lang="en-US" sz="24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pic>
        <p:nvPicPr>
          <p:cNvPr id="264" name="Picture 2" descr="top10_projected_closing_inventory_by_site.png"/>
          <p:cNvPicPr/>
          <p:nvPr/>
        </p:nvPicPr>
        <p:blipFill>
          <a:blip r:embed="rId1"/>
          <a:stretch/>
        </p:blipFill>
        <p:spPr>
          <a:xfrm>
            <a:off x="365760" y="1097280"/>
            <a:ext cx="5570280" cy="46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TextBox 3"/>
          <p:cNvSpPr/>
          <p:nvPr/>
        </p:nvSpPr>
        <p:spPr>
          <a:xfrm>
            <a:off x="5937480" y="1899000"/>
            <a:ext cx="2697480" cy="24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743040" lvl="1" indent="-28584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lang="en-CA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Several sites maintained projected inventory above 3.8 million tonnes.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lang="en-CA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SITE_016 had significantly lower projected inventory.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4"/>
          <p:cNvSpPr/>
          <p:nvPr/>
        </p:nvSpPr>
        <p:spPr>
          <a:xfrm>
            <a:off x="457200" y="5888160"/>
            <a:ext cx="788400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The chart provides operational visibility into projected inventory distribution across major sites.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/>
          <a:srcRect l="3610" t="0" r="0" b="0"/>
          <a:stretch/>
        </p:blipFill>
        <p:spPr>
          <a:xfrm>
            <a:off x="0" y="2669760"/>
            <a:ext cx="3026160" cy="418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35647" t="0" r="0" b="0"/>
          <a:stretch/>
        </p:blipFill>
        <p:spPr>
          <a:xfrm>
            <a:off x="0" y="2892240"/>
            <a:ext cx="1140480" cy="236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Oval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6600" y="1676520"/>
            <a:ext cx="2113200" cy="2818080"/>
          </a:xfrm>
          <a:prstGeom prst="ellipse">
            <a:avLst/>
          </a:prstGeom>
          <a:gradFill rotWithShape="0">
            <a:gsLst>
              <a:gs pos="0">
                <a:srgbClr val="F3F3F3">
                  <a:alpha val="7000"/>
                </a:srgbClr>
              </a:gs>
              <a:gs pos="36000">
                <a:srgbClr val="F3F3F3">
                  <a:alpha val="6000"/>
                </a:srgbClr>
              </a:gs>
              <a:gs pos="69000">
                <a:srgbClr val="F3F3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270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rcRect l="0" t="28812" r="0" b="0"/>
          <a:stretch/>
        </p:blipFill>
        <p:spPr>
          <a:xfrm>
            <a:off x="5999400" y="0"/>
            <a:ext cx="1200960" cy="114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rcRect l="0" t="0" r="0" b="23333"/>
          <a:stretch/>
        </p:blipFill>
        <p:spPr>
          <a:xfrm>
            <a:off x="6454440" y="6095880"/>
            <a:ext cx="743760" cy="7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28200" y="0"/>
            <a:ext cx="513000" cy="114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73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blipFill rotWithShape="0">
            <a:blip r:embed="rId5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251640" y="213480"/>
            <a:ext cx="2913120" cy="82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4572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EBEBEB"/>
                </a:solidFill>
                <a:effectLst/>
                <a:uFillTx/>
                <a:latin typeface="Century Gothic"/>
              </a:rPr>
              <a:t>Top 15 Forecast Error by Site</a:t>
            </a:r>
            <a:endParaRPr lang="en-US" sz="2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75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9400" y="0"/>
            <a:ext cx="5663160" cy="6856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 useBgFill="1">
        <p:nvSpPr>
          <p:cNvPr id="276" name="Rounded 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2640" y="484560"/>
            <a:ext cx="4936680" cy="5737680"/>
          </a:xfrm>
          <a:prstGeom prst="roundRect">
            <a:avLst>
              <a:gd name="adj" fmla="val 0"/>
            </a:avLst>
          </a:prstGeom>
          <a:ln cap="rnd" w="12700">
            <a:solidFill>
              <a:srgbClr val="EBEBEB"/>
            </a:solidFill>
            <a:round/>
          </a:ln>
          <a:effectLst>
            <a:outerShdw algn="tl" blurRad="50760" dir="5400000" dist="50760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277" name="Picture 2" descr="top15_forecast_error_by_site.png"/>
          <p:cNvPicPr/>
          <p:nvPr/>
        </p:nvPicPr>
        <p:blipFill>
          <a:blip r:embed="rId6"/>
          <a:stretch/>
        </p:blipFill>
        <p:spPr>
          <a:xfrm>
            <a:off x="3842640" y="1143000"/>
            <a:ext cx="5048280" cy="455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31800" y="0"/>
            <a:ext cx="513000" cy="114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79" name="TextBox 3"/>
          <p:cNvSpPr/>
          <p:nvPr/>
        </p:nvSpPr>
        <p:spPr>
          <a:xfrm>
            <a:off x="278640" y="1600200"/>
            <a:ext cx="2627640" cy="33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457200" defTabSz="457200">
              <a:lnSpc>
                <a:spcPct val="100000"/>
              </a:lnSpc>
              <a:spcBef>
                <a:spcPts val="1001"/>
              </a:spcBef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entury Gothic"/>
              </a:rPr>
              <a:t>SITE_014 and SITE_020 showed the highest negative forecast errors.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1001"/>
              </a:spcBef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entury Gothic"/>
              </a:rPr>
              <a:t>SITE_024 and SITE_022 recorded the largest positive forecast errors.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1001"/>
              </a:spcBef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entury Gothic"/>
              </a:rPr>
              <a:t>The chart identifies locations requiring model calibration improvements.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249480" y="5018760"/>
            <a:ext cx="3264480" cy="10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The chart helps identify locations requiring forecast review and operational adjustments.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20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Business Impact &amp; Insights</a:t>
            </a:r>
            <a:endParaRPr lang="en-US" sz="2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graphicFrame>
        <p:nvGraphicFramePr>
          <p:cNvPr id="282" name="Diagram4"/>
          <p:cNvGraphicFramePr/>
          <p:nvPr>
            <p:extLst>
              <p:ext uri="{D42A27DB-BD31-4B8C-83A1-F6EECF244321}">
                <p14:modId xmlns:p14="http://schemas.microsoft.com/office/powerpoint/2010/main" val="3823456452"/>
              </p:ext>
            </p:extLst>
          </p:nvPr>
        </p:nvGraphicFramePr>
        <p:xfrm>
          <a:off x="484560" y="2140200"/>
          <a:ext cx="7051680" cy="4055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3917880" y="629280"/>
            <a:ext cx="373752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Recommendations</a:t>
            </a:r>
            <a:endParaRPr lang="en-US" sz="2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pic>
        <p:nvPicPr>
          <p:cNvPr id="284" name="Graphic 6" descr="Truck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77720" y="1872000"/>
            <a:ext cx="3194280" cy="3194280"/>
          </a:xfrm>
          <a:prstGeom prst="rect">
            <a:avLst/>
          </a:prstGeom>
          <a:noFill/>
          <a:ln w="0">
            <a:noFill/>
          </a:ln>
          <a:effectLst>
            <a:outerShdw algn="t" blurRad="50760" dir="5400000" dist="38160" rotWithShape="0">
              <a:srgbClr val="000000">
                <a:alpha val="43000"/>
              </a:srgbClr>
            </a:outerShdw>
          </a:effectLst>
        </p:spPr>
      </p:pic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3917880" y="2337840"/>
            <a:ext cx="3737520" cy="390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9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Monitor high-risk inventory sites regularly to prevent stock shortages.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9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Review sites with large forecast errors for operational anomalies.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9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Continue integrating weather and operational variables into forecasting.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9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Expand the solution into a real-time Power BI operational dashboard.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9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Implement periodic model retraining for improved forecasting accuracy.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Conclusion</a:t>
            </a:r>
            <a:endParaRPr lang="en-US" sz="2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827640" y="13312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The Random Forest forecasting solution successfully predicted cement demand with high accuracy.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Inventory simulation provided valuable site-level operational insights.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The dashboard supports data-driven decision-making for project management and operations teams.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The solution establishes a scalable foundation for future predictive analytics initiatives.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2090</TotalTime>
  <Application>LibreOffice/26.2.3.2$Windows_X86_64 LibreOffice_project/70e089b17412e4cb7773e41413306b17a2328c34</Application>
  <AppVersion>15.0000</AppVersion>
  <Words>538</Words>
  <Paragraphs>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Onwudiwe, Felix</dc:creator>
  <dc:description>generated using python-pptx</dc:description>
  <dc:language>en-CA</dc:language>
  <cp:lastModifiedBy/>
  <dcterms:modified xsi:type="dcterms:W3CDTF">2026-05-29T20:47:47Z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14</vt:i4>
  </property>
</Properties>
</file>